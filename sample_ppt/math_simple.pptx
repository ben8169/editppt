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2"/>
  </p:notesMasterIdLst>
  <p:sldIdLst>
    <p:sldId id="256" r:id="rId2"/>
    <p:sldId id="261" r:id="rId3"/>
    <p:sldId id="257" r:id="rId4"/>
    <p:sldId id="258" r:id="rId5"/>
    <p:sldId id="259" r:id="rId6"/>
    <p:sldId id="260" r:id="rId7"/>
    <p:sldId id="264" r:id="rId8"/>
    <p:sldId id="262" r:id="rId9"/>
    <p:sldId id="263" r:id="rId10"/>
    <p:sldId id="266"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밝은 스타일 3 - 강조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7395" autoAdjust="0"/>
  </p:normalViewPr>
  <p:slideViewPr>
    <p:cSldViewPr snapToGrid="0">
      <p:cViewPr varScale="1">
        <p:scale>
          <a:sx n="73" d="100"/>
          <a:sy n="73" d="100"/>
        </p:scale>
        <p:origin x="1020"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F810A6-5DC3-41BA-B9AF-1AFC43B9B844}" type="datetimeFigureOut">
              <a:rPr lang="ko-KR" altLang="en-US" smtClean="0"/>
              <a:t>2026-01-16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3FC2483-6890-482E-AC53-D876A7EA6DC4}" type="slidenum">
              <a:rPr lang="ko-KR" altLang="en-US" smtClean="0"/>
              <a:t>‹#›</a:t>
            </a:fld>
            <a:endParaRPr lang="ko-KR" altLang="en-US"/>
          </a:p>
        </p:txBody>
      </p:sp>
    </p:spTree>
    <p:extLst>
      <p:ext uri="{BB962C8B-B14F-4D97-AF65-F5344CB8AC3E}">
        <p14:creationId xmlns:p14="http://schemas.microsoft.com/office/powerpoint/2010/main" val="57741491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a:t>내적의 관점으로 각 </a:t>
            </a:r>
            <a:r>
              <a:rPr lang="en-US" altLang="ko-KR"/>
              <a:t>equation</a:t>
            </a:r>
            <a:r>
              <a:rPr lang="ko-KR" altLang="en-US"/>
              <a:t>을 </a:t>
            </a:r>
            <a:r>
              <a:rPr lang="en-US" altLang="ko-KR"/>
              <a:t>vector equation</a:t>
            </a:r>
            <a:r>
              <a:rPr lang="ko-KR" altLang="en-US"/>
              <a:t>으로 볼 수 있다</a:t>
            </a:r>
            <a:r>
              <a:rPr lang="en-US" altLang="ko-KR"/>
              <a:t>.</a:t>
            </a:r>
            <a:endParaRPr lang="ko-KR" altLang="en-US" dirty="0"/>
          </a:p>
        </p:txBody>
      </p:sp>
      <p:sp>
        <p:nvSpPr>
          <p:cNvPr id="4" name="슬라이드 번호 개체 틀 3"/>
          <p:cNvSpPr>
            <a:spLocks noGrp="1"/>
          </p:cNvSpPr>
          <p:nvPr>
            <p:ph type="sldNum" sz="quarter" idx="5"/>
          </p:nvPr>
        </p:nvSpPr>
        <p:spPr/>
        <p:txBody>
          <a:bodyPr/>
          <a:lstStyle/>
          <a:p>
            <a:fld id="{93FC2483-6890-482E-AC53-D876A7EA6DC4}" type="slidenum">
              <a:rPr lang="ko-KR" altLang="en-US" smtClean="0"/>
              <a:t>7</a:t>
            </a:fld>
            <a:endParaRPr lang="ko-KR" altLang="en-US"/>
          </a:p>
        </p:txBody>
      </p:sp>
    </p:spTree>
    <p:extLst>
      <p:ext uri="{BB962C8B-B14F-4D97-AF65-F5344CB8AC3E}">
        <p14:creationId xmlns:p14="http://schemas.microsoft.com/office/powerpoint/2010/main" val="39837340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a:t>그걸 합치면 </a:t>
            </a:r>
            <a:r>
              <a:rPr lang="en-US" altLang="ko-KR"/>
              <a:t>A</a:t>
            </a:r>
            <a:r>
              <a:rPr lang="ko-KR" altLang="en-US"/>
              <a:t>가 되고</a:t>
            </a:r>
            <a:r>
              <a:rPr lang="en-US" altLang="ko-KR"/>
              <a:t>, Ax=b</a:t>
            </a:r>
            <a:r>
              <a:rPr lang="ko-KR" altLang="en-US"/>
              <a:t>꼴로 표현이 가능하다</a:t>
            </a:r>
            <a:r>
              <a:rPr lang="en-US" altLang="ko-KR"/>
              <a:t>.</a:t>
            </a:r>
            <a:endParaRPr lang="ko-KR" altLang="en-US" dirty="0"/>
          </a:p>
        </p:txBody>
      </p:sp>
      <p:sp>
        <p:nvSpPr>
          <p:cNvPr id="4" name="슬라이드 번호 개체 틀 3"/>
          <p:cNvSpPr>
            <a:spLocks noGrp="1"/>
          </p:cNvSpPr>
          <p:nvPr>
            <p:ph type="sldNum" sz="quarter" idx="5"/>
          </p:nvPr>
        </p:nvSpPr>
        <p:spPr/>
        <p:txBody>
          <a:bodyPr/>
          <a:lstStyle/>
          <a:p>
            <a:fld id="{93FC2483-6890-482E-AC53-D876A7EA6DC4}" type="slidenum">
              <a:rPr lang="ko-KR" altLang="en-US" smtClean="0"/>
              <a:t>9</a:t>
            </a:fld>
            <a:endParaRPr lang="ko-KR" altLang="en-US"/>
          </a:p>
        </p:txBody>
      </p:sp>
    </p:spTree>
    <p:extLst>
      <p:ext uri="{BB962C8B-B14F-4D97-AF65-F5344CB8AC3E}">
        <p14:creationId xmlns:p14="http://schemas.microsoft.com/office/powerpoint/2010/main" val="10467118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즉</a:t>
            </a:r>
            <a:r>
              <a:rPr lang="en-US" altLang="ko-KR" dirty="0"/>
              <a:t>, linear system</a:t>
            </a:r>
            <a:r>
              <a:rPr lang="ko-KR" altLang="en-US" dirty="0"/>
              <a:t>은 </a:t>
            </a:r>
            <a:r>
              <a:rPr lang="en-US" altLang="ko-KR" dirty="0"/>
              <a:t>Ax=b</a:t>
            </a:r>
            <a:r>
              <a:rPr lang="ko-KR" altLang="en-US" dirty="0"/>
              <a:t>라는 </a:t>
            </a:r>
            <a:r>
              <a:rPr lang="en-US" altLang="ko-KR" dirty="0"/>
              <a:t>matrix equation</a:t>
            </a:r>
            <a:r>
              <a:rPr lang="ko-KR" altLang="en-US" dirty="0"/>
              <a:t>의 형태로 표현이 가능하다</a:t>
            </a:r>
            <a:r>
              <a:rPr lang="en-US" altLang="ko-KR" dirty="0"/>
              <a:t>.</a:t>
            </a:r>
            <a:endParaRPr lang="ko-KR" altLang="en-US" dirty="0"/>
          </a:p>
        </p:txBody>
      </p:sp>
      <p:sp>
        <p:nvSpPr>
          <p:cNvPr id="4" name="슬라이드 번호 개체 틀 3"/>
          <p:cNvSpPr>
            <a:spLocks noGrp="1"/>
          </p:cNvSpPr>
          <p:nvPr>
            <p:ph type="sldNum" sz="quarter" idx="5"/>
          </p:nvPr>
        </p:nvSpPr>
        <p:spPr/>
        <p:txBody>
          <a:bodyPr/>
          <a:lstStyle/>
          <a:p>
            <a:fld id="{93FC2483-6890-482E-AC53-D876A7EA6DC4}" type="slidenum">
              <a:rPr lang="ko-KR" altLang="en-US" smtClean="0"/>
              <a:t>10</a:t>
            </a:fld>
            <a:endParaRPr lang="ko-KR" altLang="en-US"/>
          </a:p>
        </p:txBody>
      </p:sp>
    </p:spTree>
    <p:extLst>
      <p:ext uri="{BB962C8B-B14F-4D97-AF65-F5344CB8AC3E}">
        <p14:creationId xmlns:p14="http://schemas.microsoft.com/office/powerpoint/2010/main" val="2192652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FE34541-0821-B757-0DA1-AF621954147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29FADE95-71A8-6505-E94B-D52FB6DD53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C8D86A5E-BAF1-5709-71E4-3632AB35ED39}"/>
              </a:ext>
            </a:extLst>
          </p:cNvPr>
          <p:cNvSpPr>
            <a:spLocks noGrp="1"/>
          </p:cNvSpPr>
          <p:nvPr>
            <p:ph type="dt" sz="half" idx="10"/>
          </p:nvPr>
        </p:nvSpPr>
        <p:spPr/>
        <p:txBody>
          <a:bodyPr/>
          <a:lstStyle/>
          <a:p>
            <a:fld id="{5089586E-BD85-40F7-91D0-2D30F22E1420}" type="datetime1">
              <a:rPr lang="ko-KR" altLang="en-US" smtClean="0"/>
              <a:t>2026-01-16</a:t>
            </a:fld>
            <a:endParaRPr lang="ko-KR" altLang="en-US"/>
          </a:p>
        </p:txBody>
      </p:sp>
      <p:sp>
        <p:nvSpPr>
          <p:cNvPr id="5" name="바닥글 개체 틀 4">
            <a:extLst>
              <a:ext uri="{FF2B5EF4-FFF2-40B4-BE49-F238E27FC236}">
                <a16:creationId xmlns:a16="http://schemas.microsoft.com/office/drawing/2014/main" id="{142D0F2B-7781-9285-176F-4BB76DC7267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84138F7-880F-68DF-A7A2-654404818BB8}"/>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2083614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AAF6BB-044B-370B-FEBE-0231A321FFF8}"/>
              </a:ext>
            </a:extLst>
          </p:cNvPr>
          <p:cNvSpPr>
            <a:spLocks noGrp="1"/>
          </p:cNvSpPr>
          <p:nvPr>
            <p:ph type="title" hasCustomPrompt="1"/>
          </p:nvPr>
        </p:nvSpPr>
        <p:spPr>
          <a:xfrm>
            <a:off x="342899" y="270119"/>
            <a:ext cx="11333285" cy="538774"/>
          </a:xfrm>
        </p:spPr>
        <p:txBody>
          <a:bodyPr/>
          <a:lstStyle>
            <a:lvl1pPr>
              <a:defRPr sz="3200" b="1">
                <a:solidFill>
                  <a:schemeClr val="tx2">
                    <a:lumMod val="50000"/>
                    <a:lumOff val="50000"/>
                  </a:schemeClr>
                </a:solidFill>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내용 개체 틀 2">
            <a:extLst>
              <a:ext uri="{FF2B5EF4-FFF2-40B4-BE49-F238E27FC236}">
                <a16:creationId xmlns:a16="http://schemas.microsoft.com/office/drawing/2014/main" id="{8471F5BA-58DC-9FCE-75B3-1E5EC84D5B1C}"/>
              </a:ext>
            </a:extLst>
          </p:cNvPr>
          <p:cNvSpPr>
            <a:spLocks noGrp="1"/>
          </p:cNvSpPr>
          <p:nvPr>
            <p:ph idx="1"/>
          </p:nvPr>
        </p:nvSpPr>
        <p:spPr>
          <a:xfrm>
            <a:off x="342899" y="967154"/>
            <a:ext cx="11333285" cy="5380892"/>
          </a:xfrm>
        </p:spPr>
        <p:txBody>
          <a:bodyPr/>
          <a:lstStyle>
            <a:lvl1pPr>
              <a:defRPr sz="2400">
                <a:latin typeface="Calibri" panose="020F0502020204030204" pitchFamily="34" charset="0"/>
                <a:cs typeface="Calibri" panose="020F0502020204030204" pitchFamily="34" charset="0"/>
              </a:defRPr>
            </a:lvl1pPr>
            <a:lvl2pPr>
              <a:defRPr sz="2000">
                <a:latin typeface="Calibri" panose="020F0502020204030204" pitchFamily="34" charset="0"/>
                <a:cs typeface="Calibri" panose="020F0502020204030204" pitchFamily="34" charset="0"/>
              </a:defRPr>
            </a:lvl2pPr>
            <a:lvl3pPr>
              <a:defRPr sz="1800">
                <a:latin typeface="Calibri" panose="020F0502020204030204" pitchFamily="34" charset="0"/>
                <a:cs typeface="Calibri" panose="020F0502020204030204" pitchFamily="34" charset="0"/>
              </a:defRPr>
            </a:lvl3pPr>
            <a:lvl4pPr>
              <a:defRPr sz="1600">
                <a:latin typeface="Calibri" panose="020F0502020204030204" pitchFamily="34" charset="0"/>
                <a:cs typeface="Calibri" panose="020F0502020204030204" pitchFamily="34" charset="0"/>
              </a:defRPr>
            </a:lvl4pPr>
            <a:lvl5pPr>
              <a:defRPr sz="1600">
                <a:latin typeface="Calibri" panose="020F0502020204030204" pitchFamily="34" charset="0"/>
                <a:cs typeface="Calibri" panose="020F0502020204030204" pitchFamily="34" charset="0"/>
              </a:defRPr>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98945465-D705-5CC0-7D91-599ED387BE87}"/>
              </a:ext>
            </a:extLst>
          </p:cNvPr>
          <p:cNvSpPr>
            <a:spLocks noGrp="1"/>
          </p:cNvSpPr>
          <p:nvPr>
            <p:ph type="dt" sz="half" idx="10"/>
          </p:nvPr>
        </p:nvSpPr>
        <p:spPr>
          <a:xfrm>
            <a:off x="342899" y="6462346"/>
            <a:ext cx="2743200" cy="259129"/>
          </a:xfrm>
        </p:spPr>
        <p:txBody>
          <a:bodyPr/>
          <a:lstStyle/>
          <a:p>
            <a:fld id="{7C69DA4C-6DB5-4971-83A0-D7A667832670}" type="datetime1">
              <a:rPr lang="ko-KR" altLang="en-US" smtClean="0"/>
              <a:t>2026-01-16</a:t>
            </a:fld>
            <a:endParaRPr lang="ko-KR" altLang="en-US" dirty="0"/>
          </a:p>
        </p:txBody>
      </p:sp>
      <p:sp>
        <p:nvSpPr>
          <p:cNvPr id="5" name="바닥글 개체 틀 4">
            <a:extLst>
              <a:ext uri="{FF2B5EF4-FFF2-40B4-BE49-F238E27FC236}">
                <a16:creationId xmlns:a16="http://schemas.microsoft.com/office/drawing/2014/main" id="{7EA0F03D-853B-4607-94F7-96191FEEF910}"/>
              </a:ext>
            </a:extLst>
          </p:cNvPr>
          <p:cNvSpPr>
            <a:spLocks noGrp="1"/>
          </p:cNvSpPr>
          <p:nvPr>
            <p:ph type="ftr" sz="quarter" idx="11"/>
          </p:nvPr>
        </p:nvSpPr>
        <p:spPr>
          <a:xfrm>
            <a:off x="4038600" y="6462346"/>
            <a:ext cx="4114800" cy="259129"/>
          </a:xfrm>
        </p:spPr>
        <p:txBody>
          <a:bodyPr/>
          <a:lstStyle/>
          <a:p>
            <a:endParaRPr lang="ko-KR" altLang="en-US" dirty="0"/>
          </a:p>
        </p:txBody>
      </p:sp>
      <p:sp>
        <p:nvSpPr>
          <p:cNvPr id="6" name="슬라이드 번호 개체 틀 5">
            <a:extLst>
              <a:ext uri="{FF2B5EF4-FFF2-40B4-BE49-F238E27FC236}">
                <a16:creationId xmlns:a16="http://schemas.microsoft.com/office/drawing/2014/main" id="{FD1E638B-49F2-F5CB-F99A-00DD4E319427}"/>
              </a:ext>
            </a:extLst>
          </p:cNvPr>
          <p:cNvSpPr>
            <a:spLocks noGrp="1"/>
          </p:cNvSpPr>
          <p:nvPr>
            <p:ph type="sldNum" sz="quarter" idx="12"/>
          </p:nvPr>
        </p:nvSpPr>
        <p:spPr>
          <a:xfrm>
            <a:off x="8932984" y="6462346"/>
            <a:ext cx="2743200" cy="259129"/>
          </a:xfrm>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29523221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F85E677-66F6-F3F7-7E8F-746F4C223337}"/>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5DEB6404-2AD0-B503-4135-14097956F99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E7C06E62-9F43-6889-5340-78C972478779}"/>
              </a:ext>
            </a:extLst>
          </p:cNvPr>
          <p:cNvSpPr>
            <a:spLocks noGrp="1"/>
          </p:cNvSpPr>
          <p:nvPr>
            <p:ph type="dt" sz="half" idx="10"/>
          </p:nvPr>
        </p:nvSpPr>
        <p:spPr/>
        <p:txBody>
          <a:bodyPr/>
          <a:lstStyle/>
          <a:p>
            <a:fld id="{A445D7E9-20A9-49C9-9C3A-2ABAF3661646}" type="datetime1">
              <a:rPr lang="ko-KR" altLang="en-US" smtClean="0"/>
              <a:t>2026-01-16</a:t>
            </a:fld>
            <a:endParaRPr lang="ko-KR" altLang="en-US"/>
          </a:p>
        </p:txBody>
      </p:sp>
      <p:sp>
        <p:nvSpPr>
          <p:cNvPr id="5" name="바닥글 개체 틀 4">
            <a:extLst>
              <a:ext uri="{FF2B5EF4-FFF2-40B4-BE49-F238E27FC236}">
                <a16:creationId xmlns:a16="http://schemas.microsoft.com/office/drawing/2014/main" id="{8D4A4BC6-FF72-1DA5-D97F-7A61532BA19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818A5BD-DB5C-3F1D-98FC-3DA44FDC072A}"/>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20865424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270469D-F6AB-A2D9-B2FF-C31E140420BE}"/>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854555E-D7B4-47AB-F5EF-F7ECD9546F26}"/>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2B165AED-8DBE-C65E-33F7-A80E126EF65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125B16DD-AA0B-79C3-F327-1655252BD554}"/>
              </a:ext>
            </a:extLst>
          </p:cNvPr>
          <p:cNvSpPr>
            <a:spLocks noGrp="1"/>
          </p:cNvSpPr>
          <p:nvPr>
            <p:ph type="dt" sz="half" idx="10"/>
          </p:nvPr>
        </p:nvSpPr>
        <p:spPr/>
        <p:txBody>
          <a:bodyPr/>
          <a:lstStyle/>
          <a:p>
            <a:fld id="{624A77D6-389E-4385-B919-32520EBBB886}" type="datetime1">
              <a:rPr lang="ko-KR" altLang="en-US" smtClean="0"/>
              <a:t>2026-01-16</a:t>
            </a:fld>
            <a:endParaRPr lang="ko-KR" altLang="en-US"/>
          </a:p>
        </p:txBody>
      </p:sp>
      <p:sp>
        <p:nvSpPr>
          <p:cNvPr id="6" name="바닥글 개체 틀 5">
            <a:extLst>
              <a:ext uri="{FF2B5EF4-FFF2-40B4-BE49-F238E27FC236}">
                <a16:creationId xmlns:a16="http://schemas.microsoft.com/office/drawing/2014/main" id="{6812D2E4-A612-B8C8-4844-AA6E2A6EDE4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4B11FFD-A32E-8900-5121-B4D7FB8DDBFE}"/>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27918901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5DEF346-E218-EF9B-8C7B-3D33C4F84D1C}"/>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58BA5DB8-3EB2-0335-D446-1D671A9BEF4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8C33C8C9-DD8C-67F8-255B-95BFF16CACBE}"/>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A29ADE3C-24DA-736F-F576-E1CF852BE9B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8D3EC4D9-1CDB-4295-B5F6-057D98007369}"/>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4E25755C-FCB7-D7AE-A639-89A698E3290D}"/>
              </a:ext>
            </a:extLst>
          </p:cNvPr>
          <p:cNvSpPr>
            <a:spLocks noGrp="1"/>
          </p:cNvSpPr>
          <p:nvPr>
            <p:ph type="dt" sz="half" idx="10"/>
          </p:nvPr>
        </p:nvSpPr>
        <p:spPr/>
        <p:txBody>
          <a:bodyPr/>
          <a:lstStyle/>
          <a:p>
            <a:fld id="{359C83EB-4379-4C4A-A729-83BED85011BC}" type="datetime1">
              <a:rPr lang="ko-KR" altLang="en-US" smtClean="0"/>
              <a:t>2026-01-16</a:t>
            </a:fld>
            <a:endParaRPr lang="ko-KR" altLang="en-US"/>
          </a:p>
        </p:txBody>
      </p:sp>
      <p:sp>
        <p:nvSpPr>
          <p:cNvPr id="8" name="바닥글 개체 틀 7">
            <a:extLst>
              <a:ext uri="{FF2B5EF4-FFF2-40B4-BE49-F238E27FC236}">
                <a16:creationId xmlns:a16="http://schemas.microsoft.com/office/drawing/2014/main" id="{B0DFF409-AD75-1299-C2E3-40F9126B5D7A}"/>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95D08D6E-1B75-9CCD-DBF8-2C45A0768577}"/>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3860197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066A457-2B01-380D-1B48-F74AD759F074}"/>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7879089-AC7F-D0DE-FC22-5323C0D58839}"/>
              </a:ext>
            </a:extLst>
          </p:cNvPr>
          <p:cNvSpPr>
            <a:spLocks noGrp="1"/>
          </p:cNvSpPr>
          <p:nvPr>
            <p:ph type="dt" sz="half" idx="10"/>
          </p:nvPr>
        </p:nvSpPr>
        <p:spPr/>
        <p:txBody>
          <a:bodyPr/>
          <a:lstStyle/>
          <a:p>
            <a:fld id="{5545A2FA-8E15-452C-BCBA-7138BF312C2F}" type="datetime1">
              <a:rPr lang="ko-KR" altLang="en-US" smtClean="0"/>
              <a:t>2026-01-16</a:t>
            </a:fld>
            <a:endParaRPr lang="ko-KR" altLang="en-US"/>
          </a:p>
        </p:txBody>
      </p:sp>
      <p:sp>
        <p:nvSpPr>
          <p:cNvPr id="4" name="바닥글 개체 틀 3">
            <a:extLst>
              <a:ext uri="{FF2B5EF4-FFF2-40B4-BE49-F238E27FC236}">
                <a16:creationId xmlns:a16="http://schemas.microsoft.com/office/drawing/2014/main" id="{12570454-E6AD-6206-61FB-DED6A9C349B2}"/>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64370054-F26B-390B-CC96-8531FCE768B8}"/>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1621139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2C2B80A9-EA06-FEFC-441F-BFCF399B194F}"/>
              </a:ext>
            </a:extLst>
          </p:cNvPr>
          <p:cNvSpPr>
            <a:spLocks noGrp="1"/>
          </p:cNvSpPr>
          <p:nvPr>
            <p:ph type="dt" sz="half" idx="10"/>
          </p:nvPr>
        </p:nvSpPr>
        <p:spPr/>
        <p:txBody>
          <a:bodyPr/>
          <a:lstStyle/>
          <a:p>
            <a:fld id="{DC176177-E219-4A9E-8B2B-5E34E3322412}" type="datetime1">
              <a:rPr lang="ko-KR" altLang="en-US" smtClean="0"/>
              <a:t>2026-01-16</a:t>
            </a:fld>
            <a:endParaRPr lang="ko-KR" altLang="en-US"/>
          </a:p>
        </p:txBody>
      </p:sp>
      <p:sp>
        <p:nvSpPr>
          <p:cNvPr id="3" name="바닥글 개체 틀 2">
            <a:extLst>
              <a:ext uri="{FF2B5EF4-FFF2-40B4-BE49-F238E27FC236}">
                <a16:creationId xmlns:a16="http://schemas.microsoft.com/office/drawing/2014/main" id="{CFAC35C1-EAFD-0AF0-E53E-4FAD4EFCEBA0}"/>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15C0D458-EC4B-CA29-CC5C-293031BD8841}"/>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8041523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29568E4-1339-17E0-83BB-FE9021CC9575}"/>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E93CBF48-DC38-540C-0CE2-3DEB210D42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3F9956BD-FEC4-818C-662F-A965223693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654E9992-D0B6-C735-D59D-0D65F7F417D9}"/>
              </a:ext>
            </a:extLst>
          </p:cNvPr>
          <p:cNvSpPr>
            <a:spLocks noGrp="1"/>
          </p:cNvSpPr>
          <p:nvPr>
            <p:ph type="dt" sz="half" idx="10"/>
          </p:nvPr>
        </p:nvSpPr>
        <p:spPr/>
        <p:txBody>
          <a:bodyPr/>
          <a:lstStyle/>
          <a:p>
            <a:fld id="{05B36191-433A-4CBD-B79B-1FD571FC08F0}" type="datetime1">
              <a:rPr lang="ko-KR" altLang="en-US" smtClean="0"/>
              <a:t>2026-01-16</a:t>
            </a:fld>
            <a:endParaRPr lang="ko-KR" altLang="en-US"/>
          </a:p>
        </p:txBody>
      </p:sp>
      <p:sp>
        <p:nvSpPr>
          <p:cNvPr id="6" name="바닥글 개체 틀 5">
            <a:extLst>
              <a:ext uri="{FF2B5EF4-FFF2-40B4-BE49-F238E27FC236}">
                <a16:creationId xmlns:a16="http://schemas.microsoft.com/office/drawing/2014/main" id="{8650CFF6-F6C5-9712-4E24-B46FA8CB584A}"/>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010BCE8-1584-ECD8-5BD8-EC2D4C8D445E}"/>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32790245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75EFAD-D8E7-FAB9-7D8F-8E5CAE32573B}"/>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92A8ECA1-057E-286A-8510-8DA425B6BB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B32E7AC6-9D8F-8F19-F38D-4EF3C8608C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DAE98756-3CCB-29A9-5A4B-F444DEC21B22}"/>
              </a:ext>
            </a:extLst>
          </p:cNvPr>
          <p:cNvSpPr>
            <a:spLocks noGrp="1"/>
          </p:cNvSpPr>
          <p:nvPr>
            <p:ph type="dt" sz="half" idx="10"/>
          </p:nvPr>
        </p:nvSpPr>
        <p:spPr/>
        <p:txBody>
          <a:bodyPr/>
          <a:lstStyle/>
          <a:p>
            <a:fld id="{92B00B89-E558-46DB-9986-9528BDBC138C}" type="datetime1">
              <a:rPr lang="ko-KR" altLang="en-US" smtClean="0"/>
              <a:t>2026-01-16</a:t>
            </a:fld>
            <a:endParaRPr lang="ko-KR" altLang="en-US"/>
          </a:p>
        </p:txBody>
      </p:sp>
      <p:sp>
        <p:nvSpPr>
          <p:cNvPr id="6" name="바닥글 개체 틀 5">
            <a:extLst>
              <a:ext uri="{FF2B5EF4-FFF2-40B4-BE49-F238E27FC236}">
                <a16:creationId xmlns:a16="http://schemas.microsoft.com/office/drawing/2014/main" id="{DAF45B82-B27C-2E28-F7B8-4CE97D8B267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5BFDEC9-A09C-8B6C-4A90-602A4CE75C83}"/>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4047603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FF71227-7B30-770F-3E11-BD994135614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C8199749-0F54-3C5D-9761-F090D3E19C83}"/>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2EFE2E2-2D02-C117-8686-ACEA7C9A7AE1}"/>
              </a:ext>
            </a:extLst>
          </p:cNvPr>
          <p:cNvSpPr>
            <a:spLocks noGrp="1"/>
          </p:cNvSpPr>
          <p:nvPr>
            <p:ph type="dt" sz="half" idx="10"/>
          </p:nvPr>
        </p:nvSpPr>
        <p:spPr/>
        <p:txBody>
          <a:bodyPr/>
          <a:lstStyle/>
          <a:p>
            <a:fld id="{227C3C5F-4006-4632-B3DE-1A450914749C}" type="datetime1">
              <a:rPr lang="ko-KR" altLang="en-US" smtClean="0"/>
              <a:t>2026-01-16</a:t>
            </a:fld>
            <a:endParaRPr lang="ko-KR" altLang="en-US"/>
          </a:p>
        </p:txBody>
      </p:sp>
      <p:sp>
        <p:nvSpPr>
          <p:cNvPr id="5" name="바닥글 개체 틀 4">
            <a:extLst>
              <a:ext uri="{FF2B5EF4-FFF2-40B4-BE49-F238E27FC236}">
                <a16:creationId xmlns:a16="http://schemas.microsoft.com/office/drawing/2014/main" id="{5E209C6B-3411-D62A-06E3-E235A654D3A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E09773F-7BBF-71AE-EFAC-49F94704F863}"/>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24068387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D085D89C-E120-6578-1B91-CFFA2A1A7A6F}"/>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B83E8AF2-A1A1-DF48-3CBA-037CF072148C}"/>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D77811A-F7D2-ADC5-F399-5193604591AC}"/>
              </a:ext>
            </a:extLst>
          </p:cNvPr>
          <p:cNvSpPr>
            <a:spLocks noGrp="1"/>
          </p:cNvSpPr>
          <p:nvPr>
            <p:ph type="dt" sz="half" idx="10"/>
          </p:nvPr>
        </p:nvSpPr>
        <p:spPr/>
        <p:txBody>
          <a:bodyPr/>
          <a:lstStyle/>
          <a:p>
            <a:fld id="{DC02F847-FBC0-40A1-9801-1A7F5DBD685C}" type="datetime1">
              <a:rPr lang="ko-KR" altLang="en-US" smtClean="0"/>
              <a:t>2026-01-16</a:t>
            </a:fld>
            <a:endParaRPr lang="ko-KR" altLang="en-US"/>
          </a:p>
        </p:txBody>
      </p:sp>
      <p:sp>
        <p:nvSpPr>
          <p:cNvPr id="5" name="바닥글 개체 틀 4">
            <a:extLst>
              <a:ext uri="{FF2B5EF4-FFF2-40B4-BE49-F238E27FC236}">
                <a16:creationId xmlns:a16="http://schemas.microsoft.com/office/drawing/2014/main" id="{87CD19F9-A6EB-89FE-D0BB-545810ED10D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3DC0DB5-06BB-6335-E459-4168790486D1}"/>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36321287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0C067B07-97FC-9CEC-A108-ACA32C2507A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69CD914E-83EF-9E76-AB4A-4485560AE5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5CDBC784-B186-8CBA-8D81-2A5BEF3B5E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027570D-6A7A-4AF9-B8FF-A0876744ADD1}" type="datetime1">
              <a:rPr lang="ko-KR" altLang="en-US" smtClean="0"/>
              <a:t>2026-01-16</a:t>
            </a:fld>
            <a:endParaRPr lang="ko-KR" altLang="en-US"/>
          </a:p>
        </p:txBody>
      </p:sp>
      <p:sp>
        <p:nvSpPr>
          <p:cNvPr id="5" name="바닥글 개체 틀 4">
            <a:extLst>
              <a:ext uri="{FF2B5EF4-FFF2-40B4-BE49-F238E27FC236}">
                <a16:creationId xmlns:a16="http://schemas.microsoft.com/office/drawing/2014/main" id="{6E46B8B2-0D42-0AB9-67CD-BE20C708D86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459B687F-F864-E44A-5629-7038BCD15C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30626537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7B0204-E658-DA83-3858-DE94CF270BCE}"/>
              </a:ext>
            </a:extLst>
          </p:cNvPr>
          <p:cNvSpPr>
            <a:spLocks noGrp="1"/>
          </p:cNvSpPr>
          <p:nvPr>
            <p:ph type="ctrTitle"/>
          </p:nvPr>
        </p:nvSpPr>
        <p:spPr/>
        <p:txBody>
          <a:bodyPr/>
          <a:lstStyle/>
          <a:p>
            <a:br>
              <a:rPr lang="en-US" altLang="ko-KR" dirty="0">
                <a:latin typeface="Calibri" panose="020F0502020204030204" pitchFamily="34" charset="0"/>
                <a:cs typeface="Calibri" panose="020F0502020204030204" pitchFamily="34" charset="0"/>
              </a:rPr>
            </a:br>
            <a:r>
              <a:rPr lang="en-US" altLang="ko-KR" dirty="0">
                <a:latin typeface="Calibri" panose="020F0502020204030204" pitchFamily="34" charset="0"/>
                <a:cs typeface="Calibri" panose="020F0502020204030204" pitchFamily="34" charset="0"/>
              </a:rPr>
              <a:t>Linear Algerbra Basics</a:t>
            </a:r>
            <a:endParaRPr lang="ko-KR" altLang="en-US" dirty="0">
              <a:latin typeface="Calibri" panose="020F0502020204030204" pitchFamily="34" charset="0"/>
              <a:cs typeface="Calibri" panose="020F0502020204030204" pitchFamily="34" charset="0"/>
            </a:endParaRPr>
          </a:p>
        </p:txBody>
      </p:sp>
      <p:sp>
        <p:nvSpPr>
          <p:cNvPr id="3" name="부제목 2">
            <a:extLst>
              <a:ext uri="{FF2B5EF4-FFF2-40B4-BE49-F238E27FC236}">
                <a16:creationId xmlns:a16="http://schemas.microsoft.com/office/drawing/2014/main" id="{C761A28C-E340-CC14-CCBB-FC4A1F2C7D73}"/>
              </a:ext>
            </a:extLst>
          </p:cNvPr>
          <p:cNvSpPr>
            <a:spLocks noGrp="1"/>
          </p:cNvSpPr>
          <p:nvPr>
            <p:ph type="subTitle" idx="1"/>
          </p:nvPr>
        </p:nvSpPr>
        <p:spPr/>
        <p:txBody>
          <a:bodyPr/>
          <a:lstStyle/>
          <a:p>
            <a:r>
              <a:rPr lang="en-US" altLang="ko-KR" dirty="0">
                <a:latin typeface="Calibri" panose="020F0502020204030204" pitchFamily="34" charset="0"/>
                <a:cs typeface="Calibri" panose="020F0502020204030204" pitchFamily="34" charset="0"/>
              </a:rPr>
              <a:t>Date: 2026-01-05</a:t>
            </a:r>
          </a:p>
          <a:p>
            <a:r>
              <a:rPr lang="en-US" altLang="ko-KR" dirty="0">
                <a:latin typeface="Calibri" panose="020F0502020204030204" pitchFamily="34" charset="0"/>
                <a:cs typeface="Calibri" panose="020F0502020204030204" pitchFamily="34" charset="0"/>
              </a:rPr>
              <a:t>Presenter: </a:t>
            </a:r>
            <a:r>
              <a:rPr lang="en-US" altLang="ko-KR" dirty="0" err="1">
                <a:latin typeface="Calibri" panose="020F0502020204030204" pitchFamily="34" charset="0"/>
                <a:cs typeface="Calibri" panose="020F0502020204030204" pitchFamily="34" charset="0"/>
              </a:rPr>
              <a:t>Jongbum</a:t>
            </a:r>
            <a:r>
              <a:rPr lang="en-US" altLang="ko-KR" dirty="0">
                <a:latin typeface="Calibri" panose="020F0502020204030204" pitchFamily="34" charset="0"/>
                <a:cs typeface="Calibri" panose="020F0502020204030204" pitchFamily="34" charset="0"/>
              </a:rPr>
              <a:t> Won</a:t>
            </a:r>
            <a:endParaRPr lang="ko-KR" altLang="en-US"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7888005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DCBDF-BBD6-76E9-2750-A692CD308D50}"/>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5FAB89F1-2F57-B5ED-CE4F-F40EF21004D7}"/>
              </a:ext>
            </a:extLst>
          </p:cNvPr>
          <p:cNvSpPr>
            <a:spLocks noGrp="1"/>
          </p:cNvSpPr>
          <p:nvPr>
            <p:ph type="title"/>
          </p:nvPr>
        </p:nvSpPr>
        <p:spPr/>
        <p:txBody>
          <a:bodyPr/>
          <a:lstStyle/>
          <a:p>
            <a:r>
              <a:rPr lang="en-US" altLang="ko-KR" dirty="0"/>
              <a:t>Vector and Matrix Notations</a:t>
            </a:r>
            <a:endParaRPr lang="ko-KR" altLang="en-US" dirty="0"/>
          </a:p>
        </p:txBody>
      </p:sp>
      <p:sp>
        <p:nvSpPr>
          <p:cNvPr id="3" name="내용 개체 틀 2">
            <a:extLst>
              <a:ext uri="{FF2B5EF4-FFF2-40B4-BE49-F238E27FC236}">
                <a16:creationId xmlns:a16="http://schemas.microsoft.com/office/drawing/2014/main" id="{636095ED-ECC3-3659-272B-D40F6EC980F7}"/>
              </a:ext>
            </a:extLst>
          </p:cNvPr>
          <p:cNvSpPr>
            <a:spLocks noGrp="1"/>
          </p:cNvSpPr>
          <p:nvPr>
            <p:ph idx="1"/>
          </p:nvPr>
        </p:nvSpPr>
        <p:spPr>
          <a:xfrm>
            <a:off x="342899" y="967154"/>
            <a:ext cx="11333285" cy="1521522"/>
          </a:xfrm>
        </p:spPr>
        <p:txBody>
          <a:bodyPr/>
          <a:lstStyle/>
          <a:p>
            <a:pPr marL="0" indent="0">
              <a:buNone/>
            </a:pPr>
            <a:r>
              <a:rPr lang="en-US" altLang="ko-KR" b="1" dirty="0"/>
              <a:t>Scalar</a:t>
            </a:r>
            <a:r>
              <a:rPr lang="en-US" altLang="ko-KR" dirty="0"/>
              <a:t>:</a:t>
            </a:r>
            <a:r>
              <a:rPr lang="en-US" altLang="ko-KR" b="1" dirty="0"/>
              <a:t> </a:t>
            </a:r>
            <a:r>
              <a:rPr lang="en-US" altLang="ko-KR" dirty="0"/>
              <a:t>magnitude only</a:t>
            </a:r>
          </a:p>
          <a:p>
            <a:pPr marL="0" indent="0">
              <a:buNone/>
            </a:pPr>
            <a:r>
              <a:rPr lang="en-US" altLang="ko-KR" b="1" dirty="0"/>
              <a:t>Vector</a:t>
            </a:r>
            <a:r>
              <a:rPr lang="en-US" altLang="ko-KR" dirty="0"/>
              <a:t>: magnitude + direction (boldface, lowercase)</a:t>
            </a:r>
          </a:p>
          <a:p>
            <a:pPr marL="0" indent="0">
              <a:buNone/>
            </a:pPr>
            <a:r>
              <a:rPr lang="en-US" altLang="ko-KR" b="1" dirty="0"/>
              <a:t>Matrix</a:t>
            </a:r>
            <a:r>
              <a:rPr lang="en-US" altLang="ko-KR" dirty="0"/>
              <a:t>: 2D array of numbers (uppercase)</a:t>
            </a:r>
            <a:endParaRPr lang="en-US" altLang="ko-KR" b="1" dirty="0"/>
          </a:p>
          <a:p>
            <a:pPr marL="0" indent="0">
              <a:buNone/>
            </a:pPr>
            <a:endParaRPr lang="en-US" altLang="ko-KR" dirty="0"/>
          </a:p>
          <a:p>
            <a:pPr marL="0" indent="0">
              <a:buNone/>
            </a:pPr>
            <a:endParaRPr lang="ko-KR" altLang="en-US" dirty="0"/>
          </a:p>
        </p:txBody>
      </p:sp>
      <p:sp>
        <p:nvSpPr>
          <p:cNvPr id="4" name="슬라이드 번호 개체 틀 3">
            <a:extLst>
              <a:ext uri="{FF2B5EF4-FFF2-40B4-BE49-F238E27FC236}">
                <a16:creationId xmlns:a16="http://schemas.microsoft.com/office/drawing/2014/main" id="{BC223510-1528-BDF2-7B72-AA79719A2C4B}"/>
              </a:ext>
            </a:extLst>
          </p:cNvPr>
          <p:cNvSpPr>
            <a:spLocks noGrp="1"/>
          </p:cNvSpPr>
          <p:nvPr>
            <p:ph type="sldNum" sz="quarter" idx="12"/>
          </p:nvPr>
        </p:nvSpPr>
        <p:spPr/>
        <p:txBody>
          <a:bodyPr/>
          <a:lstStyle/>
          <a:p>
            <a:fld id="{9A9ABDE6-F26C-4589-9FF5-7FFDDB9572E4}" type="slidenum">
              <a:rPr lang="ko-KR" altLang="en-US" smtClean="0"/>
              <a:t>2</a:t>
            </a:fld>
            <a:endParaRPr lang="ko-KR" altLang="en-US"/>
          </a:p>
        </p:txBody>
      </p:sp>
    </p:spTree>
    <p:extLst>
      <p:ext uri="{BB962C8B-B14F-4D97-AF65-F5344CB8AC3E}">
        <p14:creationId xmlns:p14="http://schemas.microsoft.com/office/powerpoint/2010/main" val="20562439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5077137-D432-AF9E-D3FB-5B7A6EB8C97E}"/>
              </a:ext>
            </a:extLst>
          </p:cNvPr>
          <p:cNvSpPr>
            <a:spLocks noGrp="1"/>
          </p:cNvSpPr>
          <p:nvPr>
            <p:ph type="title"/>
          </p:nvPr>
        </p:nvSpPr>
        <p:spPr/>
        <p:txBody>
          <a:bodyPr/>
          <a:lstStyle/>
          <a:p>
            <a:r>
              <a:rPr lang="en-US" altLang="ko-KR" dirty="0"/>
              <a:t>Vector and Matrix Notations</a:t>
            </a:r>
            <a:endParaRPr lang="ko-KR" altLang="en-US" dirty="0"/>
          </a:p>
        </p:txBody>
      </p:sp>
      <p:sp>
        <p:nvSpPr>
          <p:cNvPr id="3" name="내용 개체 틀 2">
            <a:extLst>
              <a:ext uri="{FF2B5EF4-FFF2-40B4-BE49-F238E27FC236}">
                <a16:creationId xmlns:a16="http://schemas.microsoft.com/office/drawing/2014/main" id="{9DFA0DDB-EDDC-F4B3-E4AD-986BD5693048}"/>
              </a:ext>
            </a:extLst>
          </p:cNvPr>
          <p:cNvSpPr>
            <a:spLocks noGrp="1"/>
          </p:cNvSpPr>
          <p:nvPr>
            <p:ph idx="1"/>
          </p:nvPr>
        </p:nvSpPr>
        <p:spPr>
          <a:xfrm>
            <a:off x="342899" y="967154"/>
            <a:ext cx="11333285" cy="1521522"/>
          </a:xfrm>
        </p:spPr>
        <p:txBody>
          <a:bodyPr/>
          <a:lstStyle/>
          <a:p>
            <a:pPr marL="0" indent="0">
              <a:buNone/>
            </a:pPr>
            <a:r>
              <a:rPr lang="en-US" altLang="ko-KR" b="1" dirty="0"/>
              <a:t>Scalar</a:t>
            </a:r>
            <a:r>
              <a:rPr lang="en-US" altLang="ko-KR" dirty="0"/>
              <a:t>:</a:t>
            </a:r>
            <a:r>
              <a:rPr lang="en-US" altLang="ko-KR" b="1" dirty="0"/>
              <a:t> </a:t>
            </a:r>
            <a:r>
              <a:rPr lang="en-US" altLang="ko-KR" dirty="0"/>
              <a:t>magnitude only</a:t>
            </a:r>
          </a:p>
          <a:p>
            <a:pPr marL="0" indent="0">
              <a:buNone/>
            </a:pPr>
            <a:r>
              <a:rPr lang="en-US" altLang="ko-KR" b="1" dirty="0"/>
              <a:t>Vector</a:t>
            </a:r>
            <a:r>
              <a:rPr lang="en-US" altLang="ko-KR" dirty="0"/>
              <a:t>: magnitude + direction (boldface, lowercase)</a:t>
            </a:r>
          </a:p>
          <a:p>
            <a:pPr marL="0" indent="0">
              <a:buNone/>
            </a:pPr>
            <a:r>
              <a:rPr lang="en-US" altLang="ko-KR" b="1" dirty="0"/>
              <a:t>Matrix</a:t>
            </a:r>
            <a:r>
              <a:rPr lang="en-US" altLang="ko-KR" dirty="0"/>
              <a:t>: 2D array of numbers (uppercase)</a:t>
            </a:r>
            <a:endParaRPr lang="en-US" altLang="ko-KR" b="1" dirty="0"/>
          </a:p>
          <a:p>
            <a:pPr marL="0" indent="0">
              <a:buNone/>
            </a:pPr>
            <a:endParaRPr lang="en-US" altLang="ko-KR" dirty="0"/>
          </a:p>
          <a:p>
            <a:pPr marL="0" indent="0">
              <a:buNone/>
            </a:pPr>
            <a:endParaRPr lang="ko-KR" altLang="en-US" dirty="0"/>
          </a:p>
        </p:txBody>
      </p:sp>
      <p:sp>
        <p:nvSpPr>
          <p:cNvPr id="4" name="슬라이드 번호 개체 틀 3">
            <a:extLst>
              <a:ext uri="{FF2B5EF4-FFF2-40B4-BE49-F238E27FC236}">
                <a16:creationId xmlns:a16="http://schemas.microsoft.com/office/drawing/2014/main" id="{BA17243F-B664-5C2A-22DC-6FF52F9FF54F}"/>
              </a:ext>
            </a:extLst>
          </p:cNvPr>
          <p:cNvSpPr>
            <a:spLocks noGrp="1"/>
          </p:cNvSpPr>
          <p:nvPr>
            <p:ph type="sldNum" sz="quarter" idx="12"/>
          </p:nvPr>
        </p:nvSpPr>
        <p:spPr/>
        <p:txBody>
          <a:bodyPr/>
          <a:lstStyle/>
          <a:p>
            <a:fld id="{9A9ABDE6-F26C-4589-9FF5-7FFDDB9572E4}" type="slidenum">
              <a:rPr lang="ko-KR" altLang="en-US" smtClean="0"/>
              <a:t>3</a:t>
            </a:fld>
            <a:endParaRPr lang="ko-KR" altLang="en-US"/>
          </a:p>
        </p:txBody>
      </p:sp>
      <p:pic>
        <p:nvPicPr>
          <p:cNvPr id="1038" name="Picture 14">
            <a:extLst>
              <a:ext uri="{FF2B5EF4-FFF2-40B4-BE49-F238E27FC236}">
                <a16:creationId xmlns:a16="http://schemas.microsoft.com/office/drawing/2014/main" id="{7C98C92B-4510-CFF1-116A-AB0C8B669A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55177" y="3625786"/>
            <a:ext cx="247650" cy="276225"/>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a:extLst>
              <a:ext uri="{FF2B5EF4-FFF2-40B4-BE49-F238E27FC236}">
                <a16:creationId xmlns:a16="http://schemas.microsoft.com/office/drawing/2014/main" id="{17A414C6-51A2-C7FF-9B2F-E2116AE3CF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08161" y="2981325"/>
            <a:ext cx="2733675" cy="169545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a:extLst>
              <a:ext uri="{FF2B5EF4-FFF2-40B4-BE49-F238E27FC236}">
                <a16:creationId xmlns:a16="http://schemas.microsoft.com/office/drawing/2014/main" id="{DB042F45-8B18-DBBF-BBB6-0F5021ACDC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47170" y="3108595"/>
            <a:ext cx="3467100" cy="14478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3BE242F-F3C5-5E54-3DE2-997821A0E2D8}"/>
              </a:ext>
            </a:extLst>
          </p:cNvPr>
          <p:cNvSpPr txBox="1"/>
          <p:nvPr/>
        </p:nvSpPr>
        <p:spPr>
          <a:xfrm>
            <a:off x="901290" y="5443171"/>
            <a:ext cx="1555423" cy="369332"/>
          </a:xfrm>
          <a:prstGeom prst="rect">
            <a:avLst/>
          </a:prstGeom>
          <a:noFill/>
        </p:spPr>
        <p:txBody>
          <a:bodyPr wrap="square" rtlCol="0">
            <a:spAutoFit/>
          </a:bodyPr>
          <a:lstStyle/>
          <a:p>
            <a:pPr algn="ctr"/>
            <a:r>
              <a:rPr lang="en-US" altLang="ko-KR" b="1" dirty="0">
                <a:latin typeface="Calibri" panose="020F0502020204030204" pitchFamily="34" charset="0"/>
                <a:cs typeface="Calibri" panose="020F0502020204030204" pitchFamily="34" charset="0"/>
              </a:rPr>
              <a:t>scalar</a:t>
            </a:r>
            <a:endParaRPr lang="ko-KR" altLang="en-US" b="1" dirty="0">
              <a:latin typeface="Calibri" panose="020F0502020204030204" pitchFamily="34" charset="0"/>
              <a:cs typeface="Calibri" panose="020F0502020204030204" pitchFamily="34" charset="0"/>
            </a:endParaRPr>
          </a:p>
        </p:txBody>
      </p:sp>
      <p:sp>
        <p:nvSpPr>
          <p:cNvPr id="8" name="TextBox 7">
            <a:extLst>
              <a:ext uri="{FF2B5EF4-FFF2-40B4-BE49-F238E27FC236}">
                <a16:creationId xmlns:a16="http://schemas.microsoft.com/office/drawing/2014/main" id="{E17B33E7-133D-FC73-3C96-B06E32A23FB4}"/>
              </a:ext>
            </a:extLst>
          </p:cNvPr>
          <p:cNvSpPr txBox="1"/>
          <p:nvPr/>
        </p:nvSpPr>
        <p:spPr>
          <a:xfrm>
            <a:off x="3997286" y="5442640"/>
            <a:ext cx="1555423" cy="369332"/>
          </a:xfrm>
          <a:prstGeom prst="rect">
            <a:avLst/>
          </a:prstGeom>
          <a:noFill/>
        </p:spPr>
        <p:txBody>
          <a:bodyPr wrap="square" rtlCol="0">
            <a:spAutoFit/>
          </a:bodyPr>
          <a:lstStyle/>
          <a:p>
            <a:pPr algn="ctr"/>
            <a:r>
              <a:rPr lang="en-US" altLang="ko-KR" b="1" dirty="0">
                <a:latin typeface="Calibri" panose="020F0502020204030204" pitchFamily="34" charset="0"/>
                <a:cs typeface="Calibri" panose="020F0502020204030204" pitchFamily="34" charset="0"/>
              </a:rPr>
              <a:t>vector</a:t>
            </a:r>
            <a:endParaRPr lang="ko-KR" altLang="en-US" b="1" dirty="0">
              <a:latin typeface="Calibri" panose="020F0502020204030204" pitchFamily="34" charset="0"/>
              <a:cs typeface="Calibri" panose="020F0502020204030204" pitchFamily="34" charset="0"/>
            </a:endParaRPr>
          </a:p>
        </p:txBody>
      </p:sp>
      <p:sp>
        <p:nvSpPr>
          <p:cNvPr id="9" name="TextBox 8">
            <a:extLst>
              <a:ext uri="{FF2B5EF4-FFF2-40B4-BE49-F238E27FC236}">
                <a16:creationId xmlns:a16="http://schemas.microsoft.com/office/drawing/2014/main" id="{EAFCEACA-EC9A-44A9-EBA5-BA0AE9457616}"/>
              </a:ext>
            </a:extLst>
          </p:cNvPr>
          <p:cNvSpPr txBox="1"/>
          <p:nvPr/>
        </p:nvSpPr>
        <p:spPr>
          <a:xfrm>
            <a:off x="8703008" y="5442640"/>
            <a:ext cx="1555423" cy="369332"/>
          </a:xfrm>
          <a:prstGeom prst="rect">
            <a:avLst/>
          </a:prstGeom>
          <a:noFill/>
        </p:spPr>
        <p:txBody>
          <a:bodyPr wrap="square" rtlCol="0">
            <a:spAutoFit/>
          </a:bodyPr>
          <a:lstStyle/>
          <a:p>
            <a:pPr algn="ctr"/>
            <a:r>
              <a:rPr lang="en-US" altLang="ko-KR" b="1" dirty="0">
                <a:latin typeface="Calibri" panose="020F0502020204030204" pitchFamily="34" charset="0"/>
                <a:cs typeface="Calibri" panose="020F0502020204030204" pitchFamily="34" charset="0"/>
              </a:rPr>
              <a:t>matrix</a:t>
            </a:r>
            <a:endParaRPr lang="ko-KR" altLang="en-US"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4498740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850EA-3A6C-BF86-EC4B-9011C0859E80}"/>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389CC80E-CF73-A72A-E77C-E2749A270509}"/>
              </a:ext>
            </a:extLst>
          </p:cNvPr>
          <p:cNvSpPr>
            <a:spLocks noGrp="1"/>
          </p:cNvSpPr>
          <p:nvPr>
            <p:ph type="title"/>
          </p:nvPr>
        </p:nvSpPr>
        <p:spPr/>
        <p:txBody>
          <a:bodyPr/>
          <a:lstStyle/>
          <a:p>
            <a:r>
              <a:rPr lang="en-US" altLang="ko-KR" dirty="0"/>
              <a:t>Vector and Matrix Notations</a:t>
            </a:r>
            <a:endParaRPr lang="ko-KR" altLang="en-US" dirty="0"/>
          </a:p>
        </p:txBody>
      </p:sp>
      <p:sp>
        <p:nvSpPr>
          <p:cNvPr id="3" name="내용 개체 틀 2">
            <a:extLst>
              <a:ext uri="{FF2B5EF4-FFF2-40B4-BE49-F238E27FC236}">
                <a16:creationId xmlns:a16="http://schemas.microsoft.com/office/drawing/2014/main" id="{763604FB-699D-9C3D-7758-F5F31601BBF8}"/>
              </a:ext>
            </a:extLst>
          </p:cNvPr>
          <p:cNvSpPr>
            <a:spLocks noGrp="1"/>
          </p:cNvSpPr>
          <p:nvPr>
            <p:ph idx="1"/>
          </p:nvPr>
        </p:nvSpPr>
        <p:spPr>
          <a:xfrm>
            <a:off x="342899" y="967154"/>
            <a:ext cx="11333285" cy="1521522"/>
          </a:xfrm>
        </p:spPr>
        <p:txBody>
          <a:bodyPr/>
          <a:lstStyle/>
          <a:p>
            <a:pPr marL="0" indent="0">
              <a:buNone/>
            </a:pPr>
            <a:r>
              <a:rPr lang="en-US" altLang="ko-KR" dirty="0"/>
              <a:t>- An n-dimensional vector typically refers to a </a:t>
            </a:r>
            <a:r>
              <a:rPr lang="en-US" altLang="ko-KR" b="1" dirty="0"/>
              <a:t>column vector </a:t>
            </a:r>
            <a:r>
              <a:rPr lang="en-US" altLang="ko-KR" dirty="0"/>
              <a:t>(i.e., an n × 1 matrix)</a:t>
            </a:r>
            <a:endParaRPr lang="ko-KR" altLang="en-US" dirty="0"/>
          </a:p>
        </p:txBody>
      </p:sp>
      <p:sp>
        <p:nvSpPr>
          <p:cNvPr id="4" name="슬라이드 번호 개체 틀 3">
            <a:extLst>
              <a:ext uri="{FF2B5EF4-FFF2-40B4-BE49-F238E27FC236}">
                <a16:creationId xmlns:a16="http://schemas.microsoft.com/office/drawing/2014/main" id="{2643DFD1-4807-92E8-E836-75E97F841753}"/>
              </a:ext>
            </a:extLst>
          </p:cNvPr>
          <p:cNvSpPr>
            <a:spLocks noGrp="1"/>
          </p:cNvSpPr>
          <p:nvPr>
            <p:ph type="sldNum" sz="quarter" idx="12"/>
          </p:nvPr>
        </p:nvSpPr>
        <p:spPr/>
        <p:txBody>
          <a:bodyPr/>
          <a:lstStyle/>
          <a:p>
            <a:fld id="{9A9ABDE6-F26C-4589-9FF5-7FFDDB9572E4}" type="slidenum">
              <a:rPr lang="ko-KR" altLang="en-US" smtClean="0"/>
              <a:t>4</a:t>
            </a:fld>
            <a:endParaRPr lang="ko-KR" altLang="en-US"/>
          </a:p>
        </p:txBody>
      </p:sp>
      <p:sp>
        <p:nvSpPr>
          <p:cNvPr id="8" name="TextBox 7">
            <a:extLst>
              <a:ext uri="{FF2B5EF4-FFF2-40B4-BE49-F238E27FC236}">
                <a16:creationId xmlns:a16="http://schemas.microsoft.com/office/drawing/2014/main" id="{6D1833E7-A70F-D297-6C53-84037E2427DE}"/>
              </a:ext>
            </a:extLst>
          </p:cNvPr>
          <p:cNvSpPr txBox="1"/>
          <p:nvPr/>
        </p:nvSpPr>
        <p:spPr>
          <a:xfrm>
            <a:off x="1100481" y="4909148"/>
            <a:ext cx="2300139" cy="369332"/>
          </a:xfrm>
          <a:prstGeom prst="rect">
            <a:avLst/>
          </a:prstGeom>
          <a:noFill/>
        </p:spPr>
        <p:txBody>
          <a:bodyPr wrap="square" rtlCol="0">
            <a:spAutoFit/>
          </a:bodyPr>
          <a:lstStyle/>
          <a:p>
            <a:pPr algn="ctr"/>
            <a:r>
              <a:rPr lang="en-US" altLang="ko-KR" b="1" dirty="0">
                <a:latin typeface="Calibri" panose="020F0502020204030204" pitchFamily="34" charset="0"/>
                <a:cs typeface="Calibri" panose="020F0502020204030204" pitchFamily="34" charset="0"/>
              </a:rPr>
              <a:t>(column) vector</a:t>
            </a:r>
            <a:endParaRPr lang="ko-KR" altLang="en-US" b="1" dirty="0">
              <a:latin typeface="Calibri" panose="020F0502020204030204" pitchFamily="34" charset="0"/>
              <a:cs typeface="Calibri" panose="020F0502020204030204" pitchFamily="34" charset="0"/>
            </a:endParaRPr>
          </a:p>
        </p:txBody>
      </p:sp>
      <p:pic>
        <p:nvPicPr>
          <p:cNvPr id="2052" name="Picture 4">
            <a:extLst>
              <a:ext uri="{FF2B5EF4-FFF2-40B4-BE49-F238E27FC236}">
                <a16:creationId xmlns:a16="http://schemas.microsoft.com/office/drawing/2014/main" id="{2D95B0E9-EC3F-7B24-B110-7F9F8BD03D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55099" y="2538412"/>
            <a:ext cx="6648450" cy="1781175"/>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7706580A-781F-8871-8655-08D85BD635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451" y="2581274"/>
            <a:ext cx="3124200" cy="16954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792AF98-7667-7FFE-6101-1B3501D458BE}"/>
              </a:ext>
            </a:extLst>
          </p:cNvPr>
          <p:cNvSpPr txBox="1"/>
          <p:nvPr/>
        </p:nvSpPr>
        <p:spPr>
          <a:xfrm>
            <a:off x="7029254" y="4836968"/>
            <a:ext cx="2300139" cy="369332"/>
          </a:xfrm>
          <a:prstGeom prst="rect">
            <a:avLst/>
          </a:prstGeom>
          <a:noFill/>
        </p:spPr>
        <p:txBody>
          <a:bodyPr wrap="square" rtlCol="0">
            <a:spAutoFit/>
          </a:bodyPr>
          <a:lstStyle/>
          <a:p>
            <a:pPr algn="ctr"/>
            <a:r>
              <a:rPr lang="en-US" altLang="ko-KR" b="1" dirty="0">
                <a:latin typeface="Calibri" panose="020F0502020204030204" pitchFamily="34" charset="0"/>
                <a:cs typeface="Calibri" panose="020F0502020204030204" pitchFamily="34" charset="0"/>
              </a:rPr>
              <a:t>row vector</a:t>
            </a:r>
            <a:endParaRPr lang="ko-KR" altLang="en-US"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830826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B89E01-EDE7-206D-5578-A696658EC891}"/>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BDAF6F3-06BF-E987-0D64-CB567E6A7676}"/>
              </a:ext>
            </a:extLst>
          </p:cNvPr>
          <p:cNvSpPr>
            <a:spLocks noGrp="1"/>
          </p:cNvSpPr>
          <p:nvPr>
            <p:ph type="title"/>
          </p:nvPr>
        </p:nvSpPr>
        <p:spPr/>
        <p:txBody>
          <a:bodyPr/>
          <a:lstStyle/>
          <a:p>
            <a:r>
              <a:rPr lang="en-US" altLang="ko-KR" dirty="0"/>
              <a:t>Linear equation and system</a:t>
            </a:r>
            <a:endParaRPr lang="ko-KR" altLang="en-US" dirty="0"/>
          </a:p>
        </p:txBody>
      </p:sp>
      <p:sp>
        <p:nvSpPr>
          <p:cNvPr id="3" name="내용 개체 틀 2">
            <a:extLst>
              <a:ext uri="{FF2B5EF4-FFF2-40B4-BE49-F238E27FC236}">
                <a16:creationId xmlns:a16="http://schemas.microsoft.com/office/drawing/2014/main" id="{D3C089C3-8321-B2A1-27B2-F3B8CF837C5E}"/>
              </a:ext>
            </a:extLst>
          </p:cNvPr>
          <p:cNvSpPr>
            <a:spLocks noGrp="1"/>
          </p:cNvSpPr>
          <p:nvPr>
            <p:ph idx="1"/>
          </p:nvPr>
        </p:nvSpPr>
        <p:spPr>
          <a:xfrm>
            <a:off x="342899" y="967155"/>
            <a:ext cx="11333285" cy="437440"/>
          </a:xfrm>
        </p:spPr>
        <p:txBody>
          <a:bodyPr>
            <a:normAutofit/>
          </a:bodyPr>
          <a:lstStyle/>
          <a:p>
            <a:pPr marL="0" indent="0">
              <a:buNone/>
            </a:pPr>
            <a:r>
              <a:rPr lang="en-US" altLang="ko-KR" dirty="0"/>
              <a:t>- </a:t>
            </a:r>
            <a:r>
              <a:rPr lang="en-US" altLang="ko-KR" b="1" dirty="0"/>
              <a:t>Linear equation</a:t>
            </a:r>
            <a:r>
              <a:rPr lang="en-US" altLang="ko-KR" dirty="0"/>
              <a:t>: an equation that may be put in the form</a:t>
            </a:r>
          </a:p>
          <a:p>
            <a:pPr marL="0" indent="0">
              <a:buNone/>
            </a:pPr>
            <a:endParaRPr lang="ko-KR" altLang="en-US" dirty="0"/>
          </a:p>
        </p:txBody>
      </p:sp>
      <p:sp>
        <p:nvSpPr>
          <p:cNvPr id="4" name="슬라이드 번호 개체 틀 3">
            <a:extLst>
              <a:ext uri="{FF2B5EF4-FFF2-40B4-BE49-F238E27FC236}">
                <a16:creationId xmlns:a16="http://schemas.microsoft.com/office/drawing/2014/main" id="{F4706E1E-3822-7816-6EF3-6B41787E22C2}"/>
              </a:ext>
            </a:extLst>
          </p:cNvPr>
          <p:cNvSpPr>
            <a:spLocks noGrp="1"/>
          </p:cNvSpPr>
          <p:nvPr>
            <p:ph type="sldNum" sz="quarter" idx="12"/>
          </p:nvPr>
        </p:nvSpPr>
        <p:spPr/>
        <p:txBody>
          <a:bodyPr/>
          <a:lstStyle/>
          <a:p>
            <a:fld id="{9A9ABDE6-F26C-4589-9FF5-7FFDDB9572E4}" type="slidenum">
              <a:rPr lang="ko-KR" altLang="en-US" smtClean="0"/>
              <a:t>5</a:t>
            </a:fld>
            <a:endParaRPr lang="ko-KR" altLang="en-US"/>
          </a:p>
        </p:txBody>
      </p:sp>
      <p:pic>
        <p:nvPicPr>
          <p:cNvPr id="3074" name="Picture 2">
            <a:extLst>
              <a:ext uri="{FF2B5EF4-FFF2-40B4-BE49-F238E27FC236}">
                <a16:creationId xmlns:a16="http://schemas.microsoft.com/office/drawing/2014/main" id="{B4C6E38E-89E4-D37B-EAE5-9173DA9D62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52825" y="1557252"/>
            <a:ext cx="5086350" cy="34290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420FE401-F616-3370-8D8E-E0F83EA975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1013" y="2314575"/>
            <a:ext cx="1762125" cy="24765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A58A2219-5141-A771-6B90-E7ADF893FB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1013" y="2809131"/>
            <a:ext cx="2114550" cy="352425"/>
          </a:xfrm>
          <a:prstGeom prst="rect">
            <a:avLst/>
          </a:prstGeom>
          <a:noFill/>
          <a:extLst>
            <a:ext uri="{909E8E84-426E-40DD-AFC4-6F175D3DCCD1}">
              <a14:hiddenFill xmlns:a14="http://schemas.microsoft.com/office/drawing/2010/main">
                <a:solidFill>
                  <a:srgbClr val="FFFFFF"/>
                </a:solidFill>
              </a14:hiddenFill>
            </a:ext>
          </a:extLst>
        </p:spPr>
      </p:pic>
      <p:sp>
        <p:nvSpPr>
          <p:cNvPr id="10" name="내용 개체 틀 2">
            <a:extLst>
              <a:ext uri="{FF2B5EF4-FFF2-40B4-BE49-F238E27FC236}">
                <a16:creationId xmlns:a16="http://schemas.microsoft.com/office/drawing/2014/main" id="{BE8D342E-C57D-EB2E-C1BB-6D69CBB58F2D}"/>
              </a:ext>
            </a:extLst>
          </p:cNvPr>
          <p:cNvSpPr txBox="1">
            <a:spLocks/>
          </p:cNvSpPr>
          <p:nvPr/>
        </p:nvSpPr>
        <p:spPr>
          <a:xfrm>
            <a:off x="2333625" y="2219680"/>
            <a:ext cx="8742484" cy="437440"/>
          </a:xfrm>
          <a:prstGeom prst="rect">
            <a:avLst/>
          </a:prstGeom>
        </p:spPr>
        <p:txBody>
          <a:bodyPr vert="horz" lIns="91440" tIns="45720" rIns="91440" bIns="45720" rtlCol="0">
            <a:normAutofit/>
          </a:bodyPr>
          <a:lstStyle>
            <a:lvl1pPr marL="228600" indent="-228600" algn="l" defTabSz="914400" rtl="0" eaLnBrk="1" latinLnBrk="1" hangingPunct="1">
              <a:lnSpc>
                <a:spcPct val="90000"/>
              </a:lnSpc>
              <a:spcBef>
                <a:spcPts val="10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ko-KR" dirty="0"/>
              <a:t>are variables</a:t>
            </a:r>
            <a:endParaRPr lang="ko-KR" altLang="en-US" dirty="0"/>
          </a:p>
        </p:txBody>
      </p:sp>
      <p:sp>
        <p:nvSpPr>
          <p:cNvPr id="11" name="내용 개체 틀 2">
            <a:extLst>
              <a:ext uri="{FF2B5EF4-FFF2-40B4-BE49-F238E27FC236}">
                <a16:creationId xmlns:a16="http://schemas.microsoft.com/office/drawing/2014/main" id="{3C999845-711C-0F77-2542-F778905C3561}"/>
              </a:ext>
            </a:extLst>
          </p:cNvPr>
          <p:cNvSpPr txBox="1">
            <a:spLocks/>
          </p:cNvSpPr>
          <p:nvPr/>
        </p:nvSpPr>
        <p:spPr>
          <a:xfrm>
            <a:off x="2724150" y="2766623"/>
            <a:ext cx="8742484" cy="437440"/>
          </a:xfrm>
          <a:prstGeom prst="rect">
            <a:avLst/>
          </a:prstGeom>
        </p:spPr>
        <p:txBody>
          <a:bodyPr vert="horz" lIns="91440" tIns="45720" rIns="91440" bIns="45720" rtlCol="0">
            <a:normAutofit/>
          </a:bodyPr>
          <a:lstStyle>
            <a:lvl1pPr marL="228600" indent="-228600" algn="l" defTabSz="914400" rtl="0" eaLnBrk="1" latinLnBrk="1" hangingPunct="1">
              <a:lnSpc>
                <a:spcPct val="90000"/>
              </a:lnSpc>
              <a:spcBef>
                <a:spcPts val="10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ko-KR" dirty="0"/>
              <a:t>are coefficients</a:t>
            </a:r>
            <a:endParaRPr lang="ko-KR" altLang="en-US" dirty="0"/>
          </a:p>
        </p:txBody>
      </p:sp>
    </p:spTree>
    <p:extLst>
      <p:ext uri="{BB962C8B-B14F-4D97-AF65-F5344CB8AC3E}">
        <p14:creationId xmlns:p14="http://schemas.microsoft.com/office/powerpoint/2010/main" val="141350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DC017-D59E-BEFC-2C35-041BACAC145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C327D2F-97E9-F131-8B4D-B2E42D05869D}"/>
              </a:ext>
            </a:extLst>
          </p:cNvPr>
          <p:cNvSpPr>
            <a:spLocks noGrp="1"/>
          </p:cNvSpPr>
          <p:nvPr>
            <p:ph type="title"/>
          </p:nvPr>
        </p:nvSpPr>
        <p:spPr/>
        <p:txBody>
          <a:bodyPr/>
          <a:lstStyle/>
          <a:p>
            <a:r>
              <a:rPr lang="en-US" altLang="ko-KR" dirty="0"/>
              <a:t>Linear equation and system</a:t>
            </a:r>
            <a:endParaRPr lang="ko-KR" altLang="en-US" dirty="0"/>
          </a:p>
        </p:txBody>
      </p:sp>
      <p:sp>
        <p:nvSpPr>
          <p:cNvPr id="3" name="내용 개체 틀 2">
            <a:extLst>
              <a:ext uri="{FF2B5EF4-FFF2-40B4-BE49-F238E27FC236}">
                <a16:creationId xmlns:a16="http://schemas.microsoft.com/office/drawing/2014/main" id="{2E5498E6-0CD7-5758-4C82-75074A560F59}"/>
              </a:ext>
            </a:extLst>
          </p:cNvPr>
          <p:cNvSpPr>
            <a:spLocks noGrp="1"/>
          </p:cNvSpPr>
          <p:nvPr>
            <p:ph idx="1"/>
          </p:nvPr>
        </p:nvSpPr>
        <p:spPr>
          <a:xfrm>
            <a:off x="342899" y="967155"/>
            <a:ext cx="11333285" cy="437440"/>
          </a:xfrm>
        </p:spPr>
        <p:txBody>
          <a:bodyPr>
            <a:normAutofit/>
          </a:bodyPr>
          <a:lstStyle/>
          <a:p>
            <a:pPr marL="0" indent="0">
              <a:buNone/>
            </a:pPr>
            <a:r>
              <a:rPr lang="en-US" altLang="ko-KR" dirty="0"/>
              <a:t>- </a:t>
            </a:r>
            <a:r>
              <a:rPr lang="en-US" altLang="ko-KR" b="1" dirty="0"/>
              <a:t>Linear equation</a:t>
            </a:r>
            <a:r>
              <a:rPr lang="en-US" altLang="ko-KR" dirty="0"/>
              <a:t>: an equation that may be put in the form</a:t>
            </a:r>
          </a:p>
          <a:p>
            <a:pPr marL="0" indent="0">
              <a:buNone/>
            </a:pPr>
            <a:endParaRPr lang="ko-KR" altLang="en-US" dirty="0"/>
          </a:p>
        </p:txBody>
      </p:sp>
      <p:sp>
        <p:nvSpPr>
          <p:cNvPr id="4" name="슬라이드 번호 개체 틀 3">
            <a:extLst>
              <a:ext uri="{FF2B5EF4-FFF2-40B4-BE49-F238E27FC236}">
                <a16:creationId xmlns:a16="http://schemas.microsoft.com/office/drawing/2014/main" id="{B215E349-DC9F-0777-13AD-39ACCFB4C4A2}"/>
              </a:ext>
            </a:extLst>
          </p:cNvPr>
          <p:cNvSpPr>
            <a:spLocks noGrp="1"/>
          </p:cNvSpPr>
          <p:nvPr>
            <p:ph type="sldNum" sz="quarter" idx="12"/>
          </p:nvPr>
        </p:nvSpPr>
        <p:spPr/>
        <p:txBody>
          <a:bodyPr/>
          <a:lstStyle/>
          <a:p>
            <a:fld id="{9A9ABDE6-F26C-4589-9FF5-7FFDDB9572E4}" type="slidenum">
              <a:rPr lang="ko-KR" altLang="en-US" smtClean="0"/>
              <a:t>6</a:t>
            </a:fld>
            <a:endParaRPr lang="ko-KR" altLang="en-US"/>
          </a:p>
        </p:txBody>
      </p:sp>
      <p:pic>
        <p:nvPicPr>
          <p:cNvPr id="3074" name="Picture 2">
            <a:extLst>
              <a:ext uri="{FF2B5EF4-FFF2-40B4-BE49-F238E27FC236}">
                <a16:creationId xmlns:a16="http://schemas.microsoft.com/office/drawing/2014/main" id="{752D72C8-339F-BB51-C34B-3380113C42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52825" y="1557252"/>
            <a:ext cx="5086350" cy="34290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28F8F61C-8204-5CF2-8A39-CB901363C4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1013" y="2314575"/>
            <a:ext cx="1762125" cy="24765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6F635061-8C87-9982-F689-B2B80F24B5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1013" y="2809131"/>
            <a:ext cx="2114550" cy="352425"/>
          </a:xfrm>
          <a:prstGeom prst="rect">
            <a:avLst/>
          </a:prstGeom>
          <a:noFill/>
          <a:extLst>
            <a:ext uri="{909E8E84-426E-40DD-AFC4-6F175D3DCCD1}">
              <a14:hiddenFill xmlns:a14="http://schemas.microsoft.com/office/drawing/2010/main">
                <a:solidFill>
                  <a:srgbClr val="FFFFFF"/>
                </a:solidFill>
              </a14:hiddenFill>
            </a:ext>
          </a:extLst>
        </p:spPr>
      </p:pic>
      <p:sp>
        <p:nvSpPr>
          <p:cNvPr id="10" name="내용 개체 틀 2">
            <a:extLst>
              <a:ext uri="{FF2B5EF4-FFF2-40B4-BE49-F238E27FC236}">
                <a16:creationId xmlns:a16="http://schemas.microsoft.com/office/drawing/2014/main" id="{698827EB-9A97-88E6-9550-6A71D39FC8A0}"/>
              </a:ext>
            </a:extLst>
          </p:cNvPr>
          <p:cNvSpPr txBox="1">
            <a:spLocks/>
          </p:cNvSpPr>
          <p:nvPr/>
        </p:nvSpPr>
        <p:spPr>
          <a:xfrm>
            <a:off x="2333625" y="2219680"/>
            <a:ext cx="8742484" cy="437440"/>
          </a:xfrm>
          <a:prstGeom prst="rect">
            <a:avLst/>
          </a:prstGeom>
        </p:spPr>
        <p:txBody>
          <a:bodyPr vert="horz" lIns="91440" tIns="45720" rIns="91440" bIns="45720" rtlCol="0">
            <a:normAutofit/>
          </a:bodyPr>
          <a:lstStyle>
            <a:lvl1pPr marL="228600" indent="-228600" algn="l" defTabSz="914400" rtl="0" eaLnBrk="1" latinLnBrk="1" hangingPunct="1">
              <a:lnSpc>
                <a:spcPct val="90000"/>
              </a:lnSpc>
              <a:spcBef>
                <a:spcPts val="10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ko-KR" dirty="0"/>
              <a:t>are variables</a:t>
            </a:r>
            <a:endParaRPr lang="ko-KR" altLang="en-US" dirty="0"/>
          </a:p>
        </p:txBody>
      </p:sp>
      <p:sp>
        <p:nvSpPr>
          <p:cNvPr id="11" name="내용 개체 틀 2">
            <a:extLst>
              <a:ext uri="{FF2B5EF4-FFF2-40B4-BE49-F238E27FC236}">
                <a16:creationId xmlns:a16="http://schemas.microsoft.com/office/drawing/2014/main" id="{A89966A7-4162-C756-BB07-766F65C161B0}"/>
              </a:ext>
            </a:extLst>
          </p:cNvPr>
          <p:cNvSpPr txBox="1">
            <a:spLocks/>
          </p:cNvSpPr>
          <p:nvPr/>
        </p:nvSpPr>
        <p:spPr>
          <a:xfrm>
            <a:off x="2333625" y="2766623"/>
            <a:ext cx="8742484" cy="437440"/>
          </a:xfrm>
          <a:prstGeom prst="rect">
            <a:avLst/>
          </a:prstGeom>
        </p:spPr>
        <p:txBody>
          <a:bodyPr vert="horz" lIns="91440" tIns="45720" rIns="91440" bIns="45720" rtlCol="0">
            <a:normAutofit/>
          </a:bodyPr>
          <a:lstStyle>
            <a:lvl1pPr marL="228600" indent="-228600" algn="l" defTabSz="914400" rtl="0" eaLnBrk="1" latinLnBrk="1" hangingPunct="1">
              <a:lnSpc>
                <a:spcPct val="90000"/>
              </a:lnSpc>
              <a:spcBef>
                <a:spcPts val="10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ko-KR" dirty="0"/>
              <a:t>are coefficients</a:t>
            </a:r>
            <a:endParaRPr lang="ko-KR" altLang="en-US" dirty="0"/>
          </a:p>
        </p:txBody>
      </p:sp>
      <p:grpSp>
        <p:nvGrpSpPr>
          <p:cNvPr id="5" name="그룹 4">
            <a:extLst>
              <a:ext uri="{FF2B5EF4-FFF2-40B4-BE49-F238E27FC236}">
                <a16:creationId xmlns:a16="http://schemas.microsoft.com/office/drawing/2014/main" id="{856E7C9D-564A-8319-8B97-3D5A412F4C70}"/>
              </a:ext>
            </a:extLst>
          </p:cNvPr>
          <p:cNvGrpSpPr/>
          <p:nvPr/>
        </p:nvGrpSpPr>
        <p:grpSpPr>
          <a:xfrm>
            <a:off x="6704867" y="3885053"/>
            <a:ext cx="3081337" cy="1362075"/>
            <a:chOff x="957263" y="4033838"/>
            <a:chExt cx="3081337" cy="1362075"/>
          </a:xfrm>
        </p:grpSpPr>
        <p:pic>
          <p:nvPicPr>
            <p:cNvPr id="3080" name="Picture 8">
              <a:extLst>
                <a:ext uri="{FF2B5EF4-FFF2-40B4-BE49-F238E27FC236}">
                  <a16:creationId xmlns:a16="http://schemas.microsoft.com/office/drawing/2014/main" id="{61317D7E-EC3E-AD0B-52C1-6C62553FB36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7263" y="4033838"/>
              <a:ext cx="1285875" cy="1362075"/>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a:extLst>
                <a:ext uri="{FF2B5EF4-FFF2-40B4-BE49-F238E27FC236}">
                  <a16:creationId xmlns:a16="http://schemas.microsoft.com/office/drawing/2014/main" id="{E3FD43F6-15BB-685D-C32C-CA28856CF42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24150" y="4033838"/>
              <a:ext cx="1314450" cy="1362075"/>
            </a:xfrm>
            <a:prstGeom prst="rect">
              <a:avLst/>
            </a:prstGeom>
            <a:noFill/>
            <a:extLst>
              <a:ext uri="{909E8E84-426E-40DD-AFC4-6F175D3DCCD1}">
                <a14:hiddenFill xmlns:a14="http://schemas.microsoft.com/office/drawing/2010/main">
                  <a:solidFill>
                    <a:srgbClr val="FFFFFF"/>
                  </a:solidFill>
                </a14:hiddenFill>
              </a:ext>
            </a:extLst>
          </p:spPr>
        </p:pic>
      </p:grpSp>
      <p:pic>
        <p:nvPicPr>
          <p:cNvPr id="4098" name="Picture 2">
            <a:extLst>
              <a:ext uri="{FF2B5EF4-FFF2-40B4-BE49-F238E27FC236}">
                <a16:creationId xmlns:a16="http://schemas.microsoft.com/office/drawing/2014/main" id="{04FF0C0F-DF03-2579-9105-45C4B859D9F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24150" y="4418453"/>
            <a:ext cx="222885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24318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8F9E3-7C07-A00F-D36A-7A650F3E34F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98B53871-AF44-6F0E-7C84-093150146BDA}"/>
              </a:ext>
            </a:extLst>
          </p:cNvPr>
          <p:cNvSpPr>
            <a:spLocks noGrp="1"/>
          </p:cNvSpPr>
          <p:nvPr>
            <p:ph type="title"/>
          </p:nvPr>
        </p:nvSpPr>
        <p:spPr/>
        <p:txBody>
          <a:bodyPr/>
          <a:lstStyle/>
          <a:p>
            <a:r>
              <a:rPr lang="en-US" altLang="ko-KR" dirty="0"/>
              <a:t>Linear equation and system</a:t>
            </a:r>
            <a:endParaRPr lang="ko-KR" altLang="en-US" dirty="0"/>
          </a:p>
        </p:txBody>
      </p:sp>
      <p:sp>
        <p:nvSpPr>
          <p:cNvPr id="3" name="내용 개체 틀 2">
            <a:extLst>
              <a:ext uri="{FF2B5EF4-FFF2-40B4-BE49-F238E27FC236}">
                <a16:creationId xmlns:a16="http://schemas.microsoft.com/office/drawing/2014/main" id="{215D95E7-6EAC-A61B-53F1-649B4B159290}"/>
              </a:ext>
            </a:extLst>
          </p:cNvPr>
          <p:cNvSpPr>
            <a:spLocks noGrp="1"/>
          </p:cNvSpPr>
          <p:nvPr>
            <p:ph idx="1"/>
          </p:nvPr>
        </p:nvSpPr>
        <p:spPr>
          <a:xfrm>
            <a:off x="342899" y="967155"/>
            <a:ext cx="11333285" cy="437440"/>
          </a:xfrm>
        </p:spPr>
        <p:txBody>
          <a:bodyPr>
            <a:normAutofit/>
          </a:bodyPr>
          <a:lstStyle/>
          <a:p>
            <a:pPr marL="0" indent="0">
              <a:buNone/>
            </a:pPr>
            <a:r>
              <a:rPr lang="en-US" altLang="ko-KR" dirty="0"/>
              <a:t>- </a:t>
            </a:r>
            <a:r>
              <a:rPr lang="en-US" altLang="ko-KR" b="1" dirty="0"/>
              <a:t>Linear system</a:t>
            </a:r>
            <a:r>
              <a:rPr lang="en-US" altLang="ko-KR" dirty="0"/>
              <a:t>: a set of linear equation involving the same variables</a:t>
            </a:r>
          </a:p>
          <a:p>
            <a:pPr marL="0" indent="0">
              <a:buNone/>
            </a:pPr>
            <a:endParaRPr lang="ko-KR" altLang="en-US" dirty="0"/>
          </a:p>
        </p:txBody>
      </p:sp>
      <p:sp>
        <p:nvSpPr>
          <p:cNvPr id="4" name="슬라이드 번호 개체 틀 3">
            <a:extLst>
              <a:ext uri="{FF2B5EF4-FFF2-40B4-BE49-F238E27FC236}">
                <a16:creationId xmlns:a16="http://schemas.microsoft.com/office/drawing/2014/main" id="{68C29211-0FD2-80BA-E404-A6FFA677D583}"/>
              </a:ext>
            </a:extLst>
          </p:cNvPr>
          <p:cNvSpPr>
            <a:spLocks noGrp="1"/>
          </p:cNvSpPr>
          <p:nvPr>
            <p:ph type="sldNum" sz="quarter" idx="12"/>
          </p:nvPr>
        </p:nvSpPr>
        <p:spPr/>
        <p:txBody>
          <a:bodyPr/>
          <a:lstStyle/>
          <a:p>
            <a:fld id="{9A9ABDE6-F26C-4589-9FF5-7FFDDB9572E4}" type="slidenum">
              <a:rPr lang="ko-KR" altLang="en-US" smtClean="0"/>
              <a:t>7</a:t>
            </a:fld>
            <a:endParaRPr lang="ko-KR" altLang="en-US"/>
          </a:p>
        </p:txBody>
      </p:sp>
      <p:pic>
        <p:nvPicPr>
          <p:cNvPr id="5124" name="Picture 4">
            <a:extLst>
              <a:ext uri="{FF2B5EF4-FFF2-40B4-BE49-F238E27FC236}">
                <a16:creationId xmlns:a16="http://schemas.microsoft.com/office/drawing/2014/main" id="{9EEB4B36-8184-DEF8-B751-D09FB4DC5C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18015" y="1081100"/>
            <a:ext cx="1885950" cy="209550"/>
          </a:xfrm>
          <a:prstGeom prst="rect">
            <a:avLst/>
          </a:prstGeom>
          <a:noFill/>
          <a:extLst>
            <a:ext uri="{909E8E84-426E-40DD-AFC4-6F175D3DCCD1}">
              <a14:hiddenFill xmlns:a14="http://schemas.microsoft.com/office/drawing/2010/main">
                <a:solidFill>
                  <a:srgbClr val="FFFFFF"/>
                </a:solidFill>
              </a14:hiddenFill>
            </a:ext>
          </a:extLst>
        </p:spPr>
      </p:pic>
      <p:grpSp>
        <p:nvGrpSpPr>
          <p:cNvPr id="5" name="그룹 4">
            <a:extLst>
              <a:ext uri="{FF2B5EF4-FFF2-40B4-BE49-F238E27FC236}">
                <a16:creationId xmlns:a16="http://schemas.microsoft.com/office/drawing/2014/main" id="{469555EC-D5DC-9AB6-8FA8-1DC1CBD8701A}"/>
              </a:ext>
            </a:extLst>
          </p:cNvPr>
          <p:cNvGrpSpPr/>
          <p:nvPr/>
        </p:nvGrpSpPr>
        <p:grpSpPr>
          <a:xfrm>
            <a:off x="1781019" y="2107505"/>
            <a:ext cx="8523909" cy="1352550"/>
            <a:chOff x="1438118" y="2012255"/>
            <a:chExt cx="8523909" cy="1352550"/>
          </a:xfrm>
        </p:grpSpPr>
        <p:pic>
          <p:nvPicPr>
            <p:cNvPr id="5128" name="Picture 8">
              <a:extLst>
                <a:ext uri="{FF2B5EF4-FFF2-40B4-BE49-F238E27FC236}">
                  <a16:creationId xmlns:a16="http://schemas.microsoft.com/office/drawing/2014/main" id="{7EBF7802-76F1-59AC-5BBD-D783F748CC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38118" y="2012255"/>
              <a:ext cx="3629025" cy="135255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a:extLst>
                <a:ext uri="{FF2B5EF4-FFF2-40B4-BE49-F238E27FC236}">
                  <a16:creationId xmlns:a16="http://schemas.microsoft.com/office/drawing/2014/main" id="{B58DB94D-5FC6-ECA0-8850-5979B0521F5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49025" y="2107505"/>
              <a:ext cx="13430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a:extLst>
                <a:ext uri="{FF2B5EF4-FFF2-40B4-BE49-F238E27FC236}">
                  <a16:creationId xmlns:a16="http://schemas.microsoft.com/office/drawing/2014/main" id="{0AC58A0F-4FE6-0242-3BF1-9A2DB1BA2BE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p:blipFill>
          <p:spPr bwMode="auto">
            <a:xfrm>
              <a:off x="8573932" y="2088455"/>
              <a:ext cx="1388095" cy="1181100"/>
            </a:xfrm>
            <a:prstGeom prst="rect">
              <a:avLst/>
            </a:prstGeom>
            <a:noFill/>
            <a:extLst>
              <a:ext uri="{909E8E84-426E-40DD-AFC4-6F175D3DCCD1}">
                <a14:hiddenFill xmlns:a14="http://schemas.microsoft.com/office/drawing/2010/main">
                  <a:solidFill>
                    <a:srgbClr val="FFFFFF"/>
                  </a:solidFill>
                </a14:hiddenFill>
              </a:ext>
            </a:extLst>
          </p:spPr>
        </p:pic>
      </p:grpSp>
      <p:sp>
        <p:nvSpPr>
          <p:cNvPr id="6" name="Rectangle 5">
            <a:extLst>
              <a:ext uri="{FF2B5EF4-FFF2-40B4-BE49-F238E27FC236}">
                <a16:creationId xmlns:a16="http://schemas.microsoft.com/office/drawing/2014/main" id="{28061F10-38F5-9C05-7E3A-404A5AD1AF61}"/>
              </a:ext>
            </a:extLst>
          </p:cNvPr>
          <p:cNvSpPr/>
          <p:nvPr/>
        </p:nvSpPr>
        <p:spPr>
          <a:xfrm>
            <a:off x="3432919" y="4535424"/>
            <a:ext cx="4300292" cy="11286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873D8D93-4C9D-0145-BF98-2B199ABA23D5}"/>
              </a:ext>
            </a:extLst>
          </p:cNvPr>
          <p:cNvSpPr txBox="1"/>
          <p:nvPr/>
        </p:nvSpPr>
        <p:spPr>
          <a:xfrm>
            <a:off x="2131858" y="4591907"/>
            <a:ext cx="7153221" cy="1015663"/>
          </a:xfrm>
          <a:prstGeom prst="rect">
            <a:avLst/>
          </a:prstGeom>
          <a:noFill/>
        </p:spPr>
        <p:txBody>
          <a:bodyPr wrap="square" rtlCol="0">
            <a:spAutoFit/>
          </a:bodyPr>
          <a:lstStyle/>
          <a:p>
            <a:r>
              <a:rPr lang="en-US" sz="1200" dirty="0"/>
              <a:t>TESTING TEXT OVERFLOW TESTING TEXT OVERFLOW TESTING TEXT OVERFLOWTESTING TEXT OVERFLOW TESTING TEXT OVERFLOW TESTING TEXT OVERFLOWTESTING TEXT OVERFLOW TESTING TEXT OVERFLOW TESTING TEXT OVERFLOWTESTING TEXT OVERFLOW TESTING TEXT OVERFLOW TESTING TEXT OVERFLOWTESTING TEXT OVERFLOW TESTING TEXT OVERFLOW TESTING TEXT OVERFLOWTESTING TEXT OVERFLOW TESTING TEXT OVERFLOW TESTING TEXT OVERFLOW</a:t>
            </a:r>
          </a:p>
        </p:txBody>
      </p:sp>
    </p:spTree>
    <p:extLst>
      <p:ext uri="{BB962C8B-B14F-4D97-AF65-F5344CB8AC3E}">
        <p14:creationId xmlns:p14="http://schemas.microsoft.com/office/powerpoint/2010/main" val="40721070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761A1-F1D9-F619-F0A4-71618B2A316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C7D7A6FC-F1B2-33C7-96F6-88325CCE6B8A}"/>
              </a:ext>
            </a:extLst>
          </p:cNvPr>
          <p:cNvSpPr>
            <a:spLocks noGrp="1"/>
          </p:cNvSpPr>
          <p:nvPr>
            <p:ph type="title"/>
          </p:nvPr>
        </p:nvSpPr>
        <p:spPr/>
        <p:txBody>
          <a:bodyPr/>
          <a:lstStyle/>
          <a:p>
            <a:r>
              <a:rPr lang="en-US" altLang="ko-KR" dirty="0"/>
              <a:t>Linear equation and system</a:t>
            </a:r>
            <a:endParaRPr lang="ko-KR" altLang="en-US" dirty="0"/>
          </a:p>
        </p:txBody>
      </p:sp>
      <p:sp>
        <p:nvSpPr>
          <p:cNvPr id="3" name="내용 개체 틀 2">
            <a:extLst>
              <a:ext uri="{FF2B5EF4-FFF2-40B4-BE49-F238E27FC236}">
                <a16:creationId xmlns:a16="http://schemas.microsoft.com/office/drawing/2014/main" id="{5E7866E4-469F-5AC2-F0E5-7EF4CC705564}"/>
              </a:ext>
            </a:extLst>
          </p:cNvPr>
          <p:cNvSpPr>
            <a:spLocks noGrp="1"/>
          </p:cNvSpPr>
          <p:nvPr>
            <p:ph idx="1"/>
          </p:nvPr>
        </p:nvSpPr>
        <p:spPr>
          <a:xfrm>
            <a:off x="1513996" y="967155"/>
            <a:ext cx="8646377" cy="437440"/>
          </a:xfrm>
        </p:spPr>
        <p:txBody>
          <a:bodyPr>
            <a:normAutofit/>
          </a:bodyPr>
          <a:lstStyle/>
          <a:p>
            <a:pPr marL="0" indent="0" algn="ctr">
              <a:buNone/>
            </a:pPr>
            <a:r>
              <a:rPr lang="en-US" altLang="ko-KR" dirty="0"/>
              <a:t>- </a:t>
            </a:r>
            <a:r>
              <a:rPr lang="en-US" altLang="ko-KR" b="1" dirty="0"/>
              <a:t>Linear system</a:t>
            </a:r>
            <a:r>
              <a:rPr lang="en-US" altLang="ko-KR" dirty="0"/>
              <a:t>: a set of linear equation involving the same variables</a:t>
            </a:r>
          </a:p>
          <a:p>
            <a:pPr marL="0" indent="0" algn="ctr">
              <a:buNone/>
            </a:pPr>
            <a:endParaRPr lang="ko-KR" altLang="en-US" dirty="0"/>
          </a:p>
        </p:txBody>
      </p:sp>
      <p:sp>
        <p:nvSpPr>
          <p:cNvPr id="4" name="슬라이드 번호 개체 틀 3">
            <a:extLst>
              <a:ext uri="{FF2B5EF4-FFF2-40B4-BE49-F238E27FC236}">
                <a16:creationId xmlns:a16="http://schemas.microsoft.com/office/drawing/2014/main" id="{AD29C83F-0DA4-6F84-6AF2-E86263CD0012}"/>
              </a:ext>
            </a:extLst>
          </p:cNvPr>
          <p:cNvSpPr>
            <a:spLocks noGrp="1"/>
          </p:cNvSpPr>
          <p:nvPr>
            <p:ph type="sldNum" sz="quarter" idx="12"/>
          </p:nvPr>
        </p:nvSpPr>
        <p:spPr/>
        <p:txBody>
          <a:bodyPr/>
          <a:lstStyle/>
          <a:p>
            <a:fld id="{9A9ABDE6-F26C-4589-9FF5-7FFDDB9572E4}" type="slidenum">
              <a:rPr lang="ko-KR" altLang="en-US" smtClean="0"/>
              <a:t>8</a:t>
            </a:fld>
            <a:endParaRPr lang="ko-KR" altLang="en-US"/>
          </a:p>
        </p:txBody>
      </p:sp>
      <p:pic>
        <p:nvPicPr>
          <p:cNvPr id="5124" name="Picture 4">
            <a:extLst>
              <a:ext uri="{FF2B5EF4-FFF2-40B4-BE49-F238E27FC236}">
                <a16:creationId xmlns:a16="http://schemas.microsoft.com/office/drawing/2014/main" id="{DA172456-3AE9-3964-7E95-23CF5415E1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18015" y="1081100"/>
            <a:ext cx="1885950" cy="20955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표 5">
            <a:extLst>
              <a:ext uri="{FF2B5EF4-FFF2-40B4-BE49-F238E27FC236}">
                <a16:creationId xmlns:a16="http://schemas.microsoft.com/office/drawing/2014/main" id="{B2F02971-7FD6-09C4-F57B-88CB24D6FC48}"/>
              </a:ext>
            </a:extLst>
          </p:cNvPr>
          <p:cNvGraphicFramePr>
            <a:graphicFrameLocks noGrp="1"/>
          </p:cNvGraphicFramePr>
          <p:nvPr>
            <p:extLst>
              <p:ext uri="{D42A27DB-BD31-4B8C-83A1-F6EECF244321}">
                <p14:modId xmlns:p14="http://schemas.microsoft.com/office/powerpoint/2010/main" val="2992518767"/>
              </p:ext>
            </p:extLst>
          </p:nvPr>
        </p:nvGraphicFramePr>
        <p:xfrm>
          <a:off x="1832990" y="1708430"/>
          <a:ext cx="8128000" cy="1483360"/>
        </p:xfrm>
        <a:graphic>
          <a:graphicData uri="http://schemas.openxmlformats.org/drawingml/2006/table">
            <a:tbl>
              <a:tblPr firstRow="1" bandRow="1">
                <a:tableStyleId>{ED083AE6-46FA-4A59-8FB0-9F97EB10719F}</a:tableStyleId>
              </a:tblPr>
              <a:tblGrid>
                <a:gridCol w="1625600">
                  <a:extLst>
                    <a:ext uri="{9D8B030D-6E8A-4147-A177-3AD203B41FA5}">
                      <a16:colId xmlns:a16="http://schemas.microsoft.com/office/drawing/2014/main" val="1953656976"/>
                    </a:ext>
                  </a:extLst>
                </a:gridCol>
                <a:gridCol w="1625600">
                  <a:extLst>
                    <a:ext uri="{9D8B030D-6E8A-4147-A177-3AD203B41FA5}">
                      <a16:colId xmlns:a16="http://schemas.microsoft.com/office/drawing/2014/main" val="4152027179"/>
                    </a:ext>
                  </a:extLst>
                </a:gridCol>
                <a:gridCol w="1625600">
                  <a:extLst>
                    <a:ext uri="{9D8B030D-6E8A-4147-A177-3AD203B41FA5}">
                      <a16:colId xmlns:a16="http://schemas.microsoft.com/office/drawing/2014/main" val="3036914046"/>
                    </a:ext>
                  </a:extLst>
                </a:gridCol>
                <a:gridCol w="1625600">
                  <a:extLst>
                    <a:ext uri="{9D8B030D-6E8A-4147-A177-3AD203B41FA5}">
                      <a16:colId xmlns:a16="http://schemas.microsoft.com/office/drawing/2014/main" val="2386611422"/>
                    </a:ext>
                  </a:extLst>
                </a:gridCol>
                <a:gridCol w="1625600">
                  <a:extLst>
                    <a:ext uri="{9D8B030D-6E8A-4147-A177-3AD203B41FA5}">
                      <a16:colId xmlns:a16="http://schemas.microsoft.com/office/drawing/2014/main" val="696260981"/>
                    </a:ext>
                  </a:extLst>
                </a:gridCol>
              </a:tblGrid>
              <a:tr h="370840">
                <a:tc>
                  <a:txBody>
                    <a:bodyPr/>
                    <a:lstStyle/>
                    <a:p>
                      <a:pPr algn="ctr" latinLnBrk="1"/>
                      <a:r>
                        <a:rPr lang="ko-KR" altLang="en-US" dirty="0">
                          <a:latin typeface="Calibri" panose="020F0502020204030204" pitchFamily="34" charset="0"/>
                          <a:cs typeface="Calibri" panose="020F0502020204030204" pitchFamily="34" charset="0"/>
                        </a:rPr>
                        <a:t>환자 </a:t>
                      </a:r>
                      <a:r>
                        <a:rPr lang="en-US" altLang="ko-KR" dirty="0">
                          <a:latin typeface="Calibri" panose="020F0502020204030204" pitchFamily="34" charset="0"/>
                          <a:cs typeface="Calibri" panose="020F0502020204030204" pitchFamily="34" charset="0"/>
                        </a:rPr>
                        <a:t>ID</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ko-KR" altLang="en-US" dirty="0">
                          <a:latin typeface="Calibri" panose="020F0502020204030204" pitchFamily="34" charset="0"/>
                          <a:cs typeface="Calibri" panose="020F0502020204030204" pitchFamily="34" charset="0"/>
                        </a:rPr>
                        <a:t>몸무게</a:t>
                      </a:r>
                    </a:p>
                  </a:txBody>
                  <a:tcPr/>
                </a:tc>
                <a:tc>
                  <a:txBody>
                    <a:bodyPr/>
                    <a:lstStyle/>
                    <a:p>
                      <a:pPr algn="ctr" latinLnBrk="1"/>
                      <a:r>
                        <a:rPr lang="ko-KR" altLang="en-US" dirty="0">
                          <a:latin typeface="Calibri" panose="020F0502020204030204" pitchFamily="34" charset="0"/>
                          <a:cs typeface="Calibri" panose="020F0502020204030204" pitchFamily="34" charset="0"/>
                        </a:rPr>
                        <a:t>키</a:t>
                      </a:r>
                    </a:p>
                  </a:txBody>
                  <a:tcPr/>
                </a:tc>
                <a:tc>
                  <a:txBody>
                    <a:bodyPr/>
                    <a:lstStyle/>
                    <a:p>
                      <a:pPr algn="ctr" latinLnBrk="1"/>
                      <a:r>
                        <a:rPr lang="ko-KR" altLang="en-US" dirty="0">
                          <a:latin typeface="Calibri" panose="020F0502020204030204" pitchFamily="34" charset="0"/>
                          <a:cs typeface="Calibri" panose="020F0502020204030204" pitchFamily="34" charset="0"/>
                        </a:rPr>
                        <a:t>흡연여부</a:t>
                      </a:r>
                    </a:p>
                  </a:txBody>
                  <a:tcPr/>
                </a:tc>
                <a:tc>
                  <a:txBody>
                    <a:bodyPr/>
                    <a:lstStyle/>
                    <a:p>
                      <a:pPr algn="ctr" latinLnBrk="1"/>
                      <a:r>
                        <a:rPr lang="ko-KR" altLang="en-US" dirty="0">
                          <a:latin typeface="Calibri" panose="020F0502020204030204" pitchFamily="34" charset="0"/>
                          <a:cs typeface="Calibri" panose="020F0502020204030204" pitchFamily="34" charset="0"/>
                        </a:rPr>
                        <a:t>기대수명</a:t>
                      </a:r>
                    </a:p>
                  </a:txBody>
                  <a:tcPr/>
                </a:tc>
                <a:extLst>
                  <a:ext uri="{0D108BD9-81ED-4DB2-BD59-A6C34878D82A}">
                    <a16:rowId xmlns:a16="http://schemas.microsoft.com/office/drawing/2014/main" val="1441314421"/>
                  </a:ext>
                </a:extLst>
              </a:tr>
              <a:tr h="370840">
                <a:tc>
                  <a:txBody>
                    <a:bodyPr/>
                    <a:lstStyle/>
                    <a:p>
                      <a:pPr algn="ctr" latinLnBrk="1"/>
                      <a:r>
                        <a:rPr lang="en-US" altLang="ko-KR" dirty="0">
                          <a:latin typeface="Calibri" panose="020F0502020204030204" pitchFamily="34" charset="0"/>
                          <a:cs typeface="Calibri" panose="020F0502020204030204" pitchFamily="34" charset="0"/>
                        </a:rPr>
                        <a:t>1</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60 kg</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5.5 ft</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1</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66</a:t>
                      </a:r>
                      <a:endParaRPr lang="ko-KR" altLang="en-US"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3822950577"/>
                  </a:ext>
                </a:extLst>
              </a:tr>
              <a:tr h="370840">
                <a:tc>
                  <a:txBody>
                    <a:bodyPr/>
                    <a:lstStyle/>
                    <a:p>
                      <a:pPr algn="ctr" latinLnBrk="1"/>
                      <a:r>
                        <a:rPr lang="en-US" altLang="ko-KR" dirty="0">
                          <a:latin typeface="Calibri" panose="020F0502020204030204" pitchFamily="34" charset="0"/>
                          <a:cs typeface="Calibri" panose="020F0502020204030204" pitchFamily="34" charset="0"/>
                        </a:rPr>
                        <a:t>2</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65 kg</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5.0 ft</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0</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74</a:t>
                      </a:r>
                      <a:endParaRPr lang="ko-KR" altLang="en-US"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40048723"/>
                  </a:ext>
                </a:extLst>
              </a:tr>
              <a:tr h="370840">
                <a:tc>
                  <a:txBody>
                    <a:bodyPr/>
                    <a:lstStyle/>
                    <a:p>
                      <a:pPr algn="ctr" latinLnBrk="1"/>
                      <a:r>
                        <a:rPr lang="en-US" altLang="ko-KR" dirty="0">
                          <a:latin typeface="Calibri" panose="020F0502020204030204" pitchFamily="34" charset="0"/>
                          <a:cs typeface="Calibri" panose="020F0502020204030204" pitchFamily="34" charset="0"/>
                        </a:rPr>
                        <a:t>3</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55 kg</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6.0 ft</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1</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78</a:t>
                      </a:r>
                      <a:endParaRPr lang="ko-KR" altLang="en-US"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806502107"/>
                  </a:ext>
                </a:extLst>
              </a:tr>
            </a:tbl>
          </a:graphicData>
        </a:graphic>
      </p:graphicFrame>
      <p:pic>
        <p:nvPicPr>
          <p:cNvPr id="5128" name="Picture 8">
            <a:extLst>
              <a:ext uri="{FF2B5EF4-FFF2-40B4-BE49-F238E27FC236}">
                <a16:creationId xmlns:a16="http://schemas.microsoft.com/office/drawing/2014/main" id="{7C0B05B7-D9D5-5147-F833-44CFAB0743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82477" y="3797020"/>
            <a:ext cx="3629025" cy="1352550"/>
          </a:xfrm>
          <a:prstGeom prst="rect">
            <a:avLst/>
          </a:prstGeom>
          <a:noFill/>
          <a:extLst>
            <a:ext uri="{909E8E84-426E-40DD-AFC4-6F175D3DCCD1}">
              <a14:hiddenFill xmlns:a14="http://schemas.microsoft.com/office/drawing/2010/main">
                <a:solidFill>
                  <a:srgbClr val="FFFFFF"/>
                </a:solidFill>
              </a14:hiddenFill>
            </a:ext>
          </a:extLst>
        </p:spPr>
      </p:pic>
      <p:sp>
        <p:nvSpPr>
          <p:cNvPr id="8" name="내용 개체 틀 2">
            <a:extLst>
              <a:ext uri="{FF2B5EF4-FFF2-40B4-BE49-F238E27FC236}">
                <a16:creationId xmlns:a16="http://schemas.microsoft.com/office/drawing/2014/main" id="{E1A3B0BC-766F-CF96-37D3-1FF8F5B8EB22}"/>
              </a:ext>
            </a:extLst>
          </p:cNvPr>
          <p:cNvSpPr txBox="1">
            <a:spLocks/>
          </p:cNvSpPr>
          <p:nvPr/>
        </p:nvSpPr>
        <p:spPr>
          <a:xfrm>
            <a:off x="429357" y="5776900"/>
            <a:ext cx="11333285" cy="437440"/>
          </a:xfrm>
          <a:prstGeom prst="rect">
            <a:avLst/>
          </a:prstGeom>
        </p:spPr>
        <p:txBody>
          <a:bodyPr vert="horz" lIns="91440" tIns="45720" rIns="91440" bIns="45720" rtlCol="0">
            <a:normAutofit/>
          </a:bodyPr>
          <a:lstStyle>
            <a:lvl1pPr marL="228600" indent="-228600" algn="l" defTabSz="914400" rtl="0" eaLnBrk="1" latinLnBrk="1" hangingPunct="1">
              <a:lnSpc>
                <a:spcPct val="90000"/>
              </a:lnSpc>
              <a:spcBef>
                <a:spcPts val="10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ko-KR" dirty="0"/>
              <a:t>We can predict the newcomer's lifespan if we can solve for x.</a:t>
            </a:r>
            <a:endParaRPr lang="ko-KR" altLang="en-US" dirty="0"/>
          </a:p>
        </p:txBody>
      </p:sp>
    </p:spTree>
    <p:extLst>
      <p:ext uri="{BB962C8B-B14F-4D97-AF65-F5344CB8AC3E}">
        <p14:creationId xmlns:p14="http://schemas.microsoft.com/office/powerpoint/2010/main" val="11679537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6B7E67-AD5D-49EA-5281-241CE3EA0BF6}"/>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C61CCCC-4E11-97A9-9D10-729F4EE840BB}"/>
              </a:ext>
            </a:extLst>
          </p:cNvPr>
          <p:cNvSpPr>
            <a:spLocks noGrp="1"/>
          </p:cNvSpPr>
          <p:nvPr>
            <p:ph type="title"/>
          </p:nvPr>
        </p:nvSpPr>
        <p:spPr/>
        <p:txBody>
          <a:bodyPr/>
          <a:lstStyle/>
          <a:p>
            <a:r>
              <a:rPr lang="en-US" altLang="ko-KR" dirty="0"/>
              <a:t>Linear equation and system</a:t>
            </a:r>
            <a:endParaRPr lang="ko-KR" altLang="en-US" dirty="0"/>
          </a:p>
        </p:txBody>
      </p:sp>
      <p:sp>
        <p:nvSpPr>
          <p:cNvPr id="3" name="내용 개체 틀 2">
            <a:extLst>
              <a:ext uri="{FF2B5EF4-FFF2-40B4-BE49-F238E27FC236}">
                <a16:creationId xmlns:a16="http://schemas.microsoft.com/office/drawing/2014/main" id="{22FC498F-8B1F-5F77-B4E9-39E956D987E8}"/>
              </a:ext>
            </a:extLst>
          </p:cNvPr>
          <p:cNvSpPr>
            <a:spLocks noGrp="1"/>
          </p:cNvSpPr>
          <p:nvPr>
            <p:ph idx="1"/>
          </p:nvPr>
        </p:nvSpPr>
        <p:spPr>
          <a:xfrm>
            <a:off x="342899" y="967155"/>
            <a:ext cx="11333285" cy="437440"/>
          </a:xfrm>
        </p:spPr>
        <p:txBody>
          <a:bodyPr>
            <a:normAutofit/>
          </a:bodyPr>
          <a:lstStyle/>
          <a:p>
            <a:pPr marL="0" indent="0">
              <a:buNone/>
            </a:pPr>
            <a:r>
              <a:rPr lang="en-US" altLang="ko-KR" dirty="0"/>
              <a:t>- A linear system can be represented in </a:t>
            </a:r>
            <a:r>
              <a:rPr lang="en-US" altLang="ko-KR" b="1" dirty="0"/>
              <a:t>matrix-vector equation </a:t>
            </a:r>
            <a:r>
              <a:rPr lang="en-US" altLang="ko-KR" dirty="0"/>
              <a:t>as Ax = b</a:t>
            </a:r>
            <a:endParaRPr lang="ko-KR" altLang="en-US" dirty="0"/>
          </a:p>
        </p:txBody>
      </p:sp>
      <p:sp>
        <p:nvSpPr>
          <p:cNvPr id="4" name="슬라이드 번호 개체 틀 3">
            <a:extLst>
              <a:ext uri="{FF2B5EF4-FFF2-40B4-BE49-F238E27FC236}">
                <a16:creationId xmlns:a16="http://schemas.microsoft.com/office/drawing/2014/main" id="{1A055208-EB10-B01F-1256-D5F8A91F83C5}"/>
              </a:ext>
            </a:extLst>
          </p:cNvPr>
          <p:cNvSpPr>
            <a:spLocks noGrp="1"/>
          </p:cNvSpPr>
          <p:nvPr>
            <p:ph type="sldNum" sz="quarter" idx="12"/>
          </p:nvPr>
        </p:nvSpPr>
        <p:spPr/>
        <p:txBody>
          <a:bodyPr/>
          <a:lstStyle/>
          <a:p>
            <a:fld id="{9A9ABDE6-F26C-4589-9FF5-7FFDDB9572E4}" type="slidenum">
              <a:rPr lang="ko-KR" altLang="en-US" smtClean="0"/>
              <a:t>9</a:t>
            </a:fld>
            <a:endParaRPr lang="ko-KR" altLang="en-US"/>
          </a:p>
        </p:txBody>
      </p:sp>
      <p:pic>
        <p:nvPicPr>
          <p:cNvPr id="7170" name="Picture 2">
            <a:extLst>
              <a:ext uri="{FF2B5EF4-FFF2-40B4-BE49-F238E27FC236}">
                <a16:creationId xmlns:a16="http://schemas.microsoft.com/office/drawing/2014/main" id="{D91950C2-BA4F-8083-DF8A-E97132C417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04987" y="4162965"/>
            <a:ext cx="8582025" cy="1171575"/>
          </a:xfrm>
          <a:prstGeom prst="rect">
            <a:avLst/>
          </a:prstGeom>
          <a:noFill/>
          <a:extLst>
            <a:ext uri="{909E8E84-426E-40DD-AFC4-6F175D3DCCD1}">
              <a14:hiddenFill xmlns:a14="http://schemas.microsoft.com/office/drawing/2010/main">
                <a:solidFill>
                  <a:srgbClr val="FFFFFF"/>
                </a:solidFill>
              </a14:hiddenFill>
            </a:ext>
          </a:extLst>
        </p:spPr>
      </p:pic>
      <p:grpSp>
        <p:nvGrpSpPr>
          <p:cNvPr id="5" name="그룹 4">
            <a:extLst>
              <a:ext uri="{FF2B5EF4-FFF2-40B4-BE49-F238E27FC236}">
                <a16:creationId xmlns:a16="http://schemas.microsoft.com/office/drawing/2014/main" id="{BF211089-E464-8792-F5BA-8D85311BAE12}"/>
              </a:ext>
            </a:extLst>
          </p:cNvPr>
          <p:cNvGrpSpPr/>
          <p:nvPr/>
        </p:nvGrpSpPr>
        <p:grpSpPr>
          <a:xfrm>
            <a:off x="1781019" y="2107505"/>
            <a:ext cx="8523909" cy="1352550"/>
            <a:chOff x="1438118" y="2012255"/>
            <a:chExt cx="8523909" cy="1352550"/>
          </a:xfrm>
        </p:grpSpPr>
        <p:pic>
          <p:nvPicPr>
            <p:cNvPr id="6" name="Picture 8">
              <a:extLst>
                <a:ext uri="{FF2B5EF4-FFF2-40B4-BE49-F238E27FC236}">
                  <a16:creationId xmlns:a16="http://schemas.microsoft.com/office/drawing/2014/main" id="{DAF6ABD6-7779-CBCF-4A72-BE99739D0A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38118" y="2012255"/>
              <a:ext cx="3629025" cy="135255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DC99C810-C3C6-09FC-D04E-03F3155E36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49025" y="2107505"/>
              <a:ext cx="13430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a:extLst>
                <a:ext uri="{FF2B5EF4-FFF2-40B4-BE49-F238E27FC236}">
                  <a16:creationId xmlns:a16="http://schemas.microsoft.com/office/drawing/2014/main" id="{CC204ABB-D86D-A811-C391-C8E079A5673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p:blipFill>
          <p:spPr bwMode="auto">
            <a:xfrm>
              <a:off x="8573932" y="2088455"/>
              <a:ext cx="1388095" cy="118110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227718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BE700-499A-A725-DDFC-97D4039A0B33}"/>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B88027CE-14A1-8870-04FF-42534FCFCE10}"/>
              </a:ext>
            </a:extLst>
          </p:cNvPr>
          <p:cNvSpPr>
            <a:spLocks noGrp="1"/>
          </p:cNvSpPr>
          <p:nvPr>
            <p:ph type="title"/>
          </p:nvPr>
        </p:nvSpPr>
        <p:spPr/>
        <p:txBody>
          <a:bodyPr/>
          <a:lstStyle/>
          <a:p>
            <a:r>
              <a:rPr lang="en-US" altLang="ko-KR" dirty="0"/>
              <a:t>Linear equation and system</a:t>
            </a:r>
            <a:endParaRPr lang="ko-KR" altLang="en-US" dirty="0"/>
          </a:p>
        </p:txBody>
      </p:sp>
      <p:sp>
        <p:nvSpPr>
          <p:cNvPr id="3" name="내용 개체 틀 2">
            <a:extLst>
              <a:ext uri="{FF2B5EF4-FFF2-40B4-BE49-F238E27FC236}">
                <a16:creationId xmlns:a16="http://schemas.microsoft.com/office/drawing/2014/main" id="{37FC0222-FA97-97D7-5436-8267247EA1CC}"/>
              </a:ext>
            </a:extLst>
          </p:cNvPr>
          <p:cNvSpPr>
            <a:spLocks noGrp="1"/>
          </p:cNvSpPr>
          <p:nvPr>
            <p:ph idx="1"/>
          </p:nvPr>
        </p:nvSpPr>
        <p:spPr>
          <a:xfrm>
            <a:off x="342899" y="967155"/>
            <a:ext cx="11333285" cy="437440"/>
          </a:xfrm>
        </p:spPr>
        <p:txBody>
          <a:bodyPr>
            <a:normAutofit/>
          </a:bodyPr>
          <a:lstStyle/>
          <a:p>
            <a:pPr marL="0" indent="0">
              <a:buNone/>
            </a:pPr>
            <a:r>
              <a:rPr lang="en-US" altLang="ko-KR" dirty="0"/>
              <a:t>- A linear system can be represented in </a:t>
            </a:r>
            <a:r>
              <a:rPr lang="en-US" altLang="ko-KR" b="1" dirty="0"/>
              <a:t>matrix-vector equation </a:t>
            </a:r>
            <a:r>
              <a:rPr lang="en-US" altLang="ko-KR" dirty="0"/>
              <a:t>as Ax = b</a:t>
            </a:r>
            <a:endParaRPr lang="ko-KR" altLang="en-US" dirty="0"/>
          </a:p>
        </p:txBody>
      </p:sp>
      <p:sp>
        <p:nvSpPr>
          <p:cNvPr id="4" name="슬라이드 번호 개체 틀 3">
            <a:extLst>
              <a:ext uri="{FF2B5EF4-FFF2-40B4-BE49-F238E27FC236}">
                <a16:creationId xmlns:a16="http://schemas.microsoft.com/office/drawing/2014/main" id="{7AB874FA-99C2-1643-A56D-EB50DC22F150}"/>
              </a:ext>
            </a:extLst>
          </p:cNvPr>
          <p:cNvSpPr>
            <a:spLocks noGrp="1"/>
          </p:cNvSpPr>
          <p:nvPr>
            <p:ph type="sldNum" sz="quarter" idx="12"/>
          </p:nvPr>
        </p:nvSpPr>
        <p:spPr/>
        <p:txBody>
          <a:bodyPr/>
          <a:lstStyle/>
          <a:p>
            <a:fld id="{9A9ABDE6-F26C-4589-9FF5-7FFDDB9572E4}" type="slidenum">
              <a:rPr lang="ko-KR" altLang="en-US" smtClean="0"/>
              <a:t>10</a:t>
            </a:fld>
            <a:endParaRPr lang="ko-KR" altLang="en-US"/>
          </a:p>
        </p:txBody>
      </p:sp>
      <p:pic>
        <p:nvPicPr>
          <p:cNvPr id="7170" name="Picture 2">
            <a:extLst>
              <a:ext uri="{FF2B5EF4-FFF2-40B4-BE49-F238E27FC236}">
                <a16:creationId xmlns:a16="http://schemas.microsoft.com/office/drawing/2014/main" id="{11A6980B-747B-AF38-14ED-DC0D276DF3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04987" y="4162965"/>
            <a:ext cx="8582025" cy="1171575"/>
          </a:xfrm>
          <a:prstGeom prst="rect">
            <a:avLst/>
          </a:prstGeom>
          <a:noFill/>
          <a:extLst>
            <a:ext uri="{909E8E84-426E-40DD-AFC4-6F175D3DCCD1}">
              <a14:hiddenFill xmlns:a14="http://schemas.microsoft.com/office/drawing/2010/main">
                <a:solidFill>
                  <a:srgbClr val="FFFFFF"/>
                </a:solidFill>
              </a14:hiddenFill>
            </a:ext>
          </a:extLst>
        </p:spPr>
      </p:pic>
      <p:sp>
        <p:nvSpPr>
          <p:cNvPr id="8" name="직사각형 7">
            <a:extLst>
              <a:ext uri="{FF2B5EF4-FFF2-40B4-BE49-F238E27FC236}">
                <a16:creationId xmlns:a16="http://schemas.microsoft.com/office/drawing/2014/main" id="{AE63E2E4-6C44-D5EA-963D-FFBCEA3AC0B8}"/>
              </a:ext>
            </a:extLst>
          </p:cNvPr>
          <p:cNvSpPr/>
          <p:nvPr/>
        </p:nvSpPr>
        <p:spPr>
          <a:xfrm>
            <a:off x="1687399" y="4423527"/>
            <a:ext cx="1282045" cy="650449"/>
          </a:xfrm>
          <a:prstGeom prst="rect">
            <a:avLst/>
          </a:prstGeom>
          <a:noFill/>
          <a:ln w="38100">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직사각형 4">
            <a:extLst>
              <a:ext uri="{FF2B5EF4-FFF2-40B4-BE49-F238E27FC236}">
                <a16:creationId xmlns:a16="http://schemas.microsoft.com/office/drawing/2014/main" id="{5EEE7DB9-1F1E-89EC-C6EA-C96F925CFA1D}"/>
              </a:ext>
            </a:extLst>
          </p:cNvPr>
          <p:cNvSpPr/>
          <p:nvPr/>
        </p:nvSpPr>
        <p:spPr>
          <a:xfrm>
            <a:off x="1687399" y="1993134"/>
            <a:ext cx="3893269" cy="1574129"/>
          </a:xfrm>
          <a:prstGeom prst="rect">
            <a:avLst/>
          </a:prstGeom>
          <a:noFill/>
          <a:ln w="38100">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 name="직선 화살표 연결선 6">
            <a:extLst>
              <a:ext uri="{FF2B5EF4-FFF2-40B4-BE49-F238E27FC236}">
                <a16:creationId xmlns:a16="http://schemas.microsoft.com/office/drawing/2014/main" id="{749C38F8-98A7-D71E-B674-202DD50E5149}"/>
              </a:ext>
            </a:extLst>
          </p:cNvPr>
          <p:cNvCxnSpPr>
            <a:cxnSpLocks/>
          </p:cNvCxnSpPr>
          <p:nvPr/>
        </p:nvCxnSpPr>
        <p:spPr>
          <a:xfrm>
            <a:off x="2328420" y="3804746"/>
            <a:ext cx="0" cy="433633"/>
          </a:xfrm>
          <a:prstGeom prst="straightConnector1">
            <a:avLst/>
          </a:prstGeom>
          <a:ln w="57150">
            <a:solidFill>
              <a:srgbClr val="EE0000"/>
            </a:solidFill>
            <a:tailEnd type="triangle"/>
          </a:ln>
        </p:spPr>
        <p:style>
          <a:lnRef idx="2">
            <a:schemeClr val="accent1"/>
          </a:lnRef>
          <a:fillRef idx="0">
            <a:schemeClr val="accent1"/>
          </a:fillRef>
          <a:effectRef idx="1">
            <a:schemeClr val="accent1"/>
          </a:effectRef>
          <a:fontRef idx="minor">
            <a:schemeClr val="tx1"/>
          </a:fontRef>
        </p:style>
      </p:cxnSp>
      <p:grpSp>
        <p:nvGrpSpPr>
          <p:cNvPr id="6" name="그룹 4">
            <a:extLst>
              <a:ext uri="{FF2B5EF4-FFF2-40B4-BE49-F238E27FC236}">
                <a16:creationId xmlns:a16="http://schemas.microsoft.com/office/drawing/2014/main" id="{5D7A2AC7-38E9-C188-1FD8-E1C84C850891}"/>
              </a:ext>
            </a:extLst>
          </p:cNvPr>
          <p:cNvGrpSpPr/>
          <p:nvPr/>
        </p:nvGrpSpPr>
        <p:grpSpPr>
          <a:xfrm>
            <a:off x="1781019" y="2107505"/>
            <a:ext cx="8523909" cy="1352550"/>
            <a:chOff x="1438118" y="2012255"/>
            <a:chExt cx="8523909" cy="1352550"/>
          </a:xfrm>
        </p:grpSpPr>
        <p:pic>
          <p:nvPicPr>
            <p:cNvPr id="9" name="Picture 8">
              <a:extLst>
                <a:ext uri="{FF2B5EF4-FFF2-40B4-BE49-F238E27FC236}">
                  <a16:creationId xmlns:a16="http://schemas.microsoft.com/office/drawing/2014/main" id="{E3855F5E-8D78-5FC0-ECE3-E4E06C74F1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38118" y="2012255"/>
              <a:ext cx="3629025" cy="135255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6F047CDE-E793-FBD1-CB11-EE7C7BED0A5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49025" y="2107505"/>
              <a:ext cx="13430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6">
              <a:extLst>
                <a:ext uri="{FF2B5EF4-FFF2-40B4-BE49-F238E27FC236}">
                  <a16:creationId xmlns:a16="http://schemas.microsoft.com/office/drawing/2014/main" id="{3A14CD9B-B9AB-CEED-3D97-5B4B0C19F63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p:blipFill>
          <p:spPr bwMode="auto">
            <a:xfrm>
              <a:off x="8573932" y="2088455"/>
              <a:ext cx="1388095" cy="118110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147614680"/>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3830</TotalTime>
  <Words>353</Words>
  <Application>Microsoft Office PowerPoint</Application>
  <PresentationFormat>Widescreen</PresentationFormat>
  <Paragraphs>71</Paragraphs>
  <Slides>10</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맑은 고딕</vt:lpstr>
      <vt:lpstr>Arial</vt:lpstr>
      <vt:lpstr>Calibri</vt:lpstr>
      <vt:lpstr>Office 테마</vt:lpstr>
      <vt:lpstr> Linear Algerbra Basics</vt:lpstr>
      <vt:lpstr>Vector and Matrix Notations</vt:lpstr>
      <vt:lpstr>Vector and Matrix Notations</vt:lpstr>
      <vt:lpstr>Vector and Matrix Notations</vt:lpstr>
      <vt:lpstr>Linear equation and system</vt:lpstr>
      <vt:lpstr>Linear equation and system</vt:lpstr>
      <vt:lpstr>Linear equation and system</vt:lpstr>
      <vt:lpstr>Linear equation and system</vt:lpstr>
      <vt:lpstr>Linear equation and system</vt:lpstr>
      <vt:lpstr>Linear equation and system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Jong Bum Won</dc:creator>
  <cp:lastModifiedBy>김지헌</cp:lastModifiedBy>
  <cp:revision>552</cp:revision>
  <dcterms:created xsi:type="dcterms:W3CDTF">2025-12-30T11:13:34Z</dcterms:created>
  <dcterms:modified xsi:type="dcterms:W3CDTF">2026-01-16T05:33:46Z</dcterms:modified>
</cp:coreProperties>
</file>