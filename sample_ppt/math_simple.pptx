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4" r:id="rId9"/>
    <p:sldId id="263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395" autoAdjust="0"/>
  </p:normalViewPr>
  <p:slideViewPr>
    <p:cSldViewPr snapToGrid="0">
      <p:cViewPr varScale="1">
        <p:scale>
          <a:sx n="97" d="100"/>
          <a:sy n="97" d="100"/>
        </p:scale>
        <p:origin x="11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810A6-5DC3-41BA-B9AF-1AFC43B9B844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C2483-6890-482E-AC53-D876A7EA6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41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내적의 관점으로 각 </a:t>
            </a:r>
            <a:r>
              <a:rPr lang="en-US" altLang="ko-KR"/>
              <a:t>equation</a:t>
            </a:r>
            <a:r>
              <a:rPr lang="ko-KR" altLang="en-US"/>
              <a:t>을 </a:t>
            </a:r>
            <a:r>
              <a:rPr lang="en-US" altLang="ko-KR"/>
              <a:t>vector equation</a:t>
            </a:r>
            <a:r>
              <a:rPr lang="ko-KR" altLang="en-US"/>
              <a:t>으로 볼 수 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C2483-6890-482E-AC53-D876A7EA6DC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734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그걸 합치면 </a:t>
            </a:r>
            <a:r>
              <a:rPr lang="en-US" altLang="ko-KR"/>
              <a:t>A</a:t>
            </a:r>
            <a:r>
              <a:rPr lang="ko-KR" altLang="en-US"/>
              <a:t>가 되고</a:t>
            </a:r>
            <a:r>
              <a:rPr lang="en-US" altLang="ko-KR"/>
              <a:t>, Ax=b</a:t>
            </a:r>
            <a:r>
              <a:rPr lang="ko-KR" altLang="en-US"/>
              <a:t>꼴로 표현이 가능하다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C2483-6890-482E-AC53-D876A7EA6DC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11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즉</a:t>
            </a:r>
            <a:r>
              <a:rPr lang="en-US" altLang="ko-KR" dirty="0"/>
              <a:t>, linear system</a:t>
            </a:r>
            <a:r>
              <a:rPr lang="ko-KR" altLang="en-US" dirty="0"/>
              <a:t>은 </a:t>
            </a:r>
            <a:r>
              <a:rPr lang="en-US" altLang="ko-KR" dirty="0"/>
              <a:t>Ax=b</a:t>
            </a:r>
            <a:r>
              <a:rPr lang="ko-KR" altLang="en-US" dirty="0"/>
              <a:t>라는 </a:t>
            </a:r>
            <a:r>
              <a:rPr lang="en-US" altLang="ko-KR" dirty="0"/>
              <a:t>matrix equation</a:t>
            </a:r>
            <a:r>
              <a:rPr lang="ko-KR" altLang="en-US" dirty="0"/>
              <a:t>의 형태로 표현이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C2483-6890-482E-AC53-D876A7EA6DC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65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34541-0821-B757-0DA1-AF6219541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FADE95-71A8-6505-E94B-D52FB6DD5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86A5E-BAF1-5709-71E4-3632AB35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586E-BD85-40F7-91D0-2D30F22E1420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D0F2B-7781-9285-176F-4BB76DC7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138F7-880F-68DF-A7A2-65440481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61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AF6BB-044B-370B-FEBE-0231A321F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70119"/>
            <a:ext cx="11333285" cy="538774"/>
          </a:xfrm>
        </p:spPr>
        <p:txBody>
          <a:bodyPr/>
          <a:lstStyle>
            <a:lvl1pPr>
              <a:defRPr sz="3200" b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71F5BA-58DC-9FCE-75B3-1E5EC84D5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333285" cy="5380892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45465-D705-5CC0-7D91-599ED387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899" y="6462346"/>
            <a:ext cx="2743200" cy="259129"/>
          </a:xfrm>
        </p:spPr>
        <p:txBody>
          <a:bodyPr/>
          <a:lstStyle/>
          <a:p>
            <a:fld id="{7C69DA4C-6DB5-4971-83A0-D7A667832670}" type="datetime1">
              <a:rPr lang="ko-KR" altLang="en-US" smtClean="0"/>
              <a:t>2026-01-12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A0F03D-853B-4607-94F7-96191FEE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346"/>
            <a:ext cx="4114800" cy="259129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1E638B-49F2-F5CB-F99A-00DD4E31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984" y="6462346"/>
            <a:ext cx="2743200" cy="259129"/>
          </a:xfrm>
        </p:spPr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2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5E677-66F6-F3F7-7E8F-746F4C22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EB6404-2AD0-B503-4135-14097956F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06E62-9F43-6889-5340-78C97247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5D7E9-20A9-49C9-9C3A-2ABAF3661646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4A4BC6-FF72-1DA5-D97F-7A61532B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18A5BD-DB5C-3F1D-98FC-3DA44FDC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54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0469D-F6AB-A2D9-B2FF-C31E1404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4555E-D7B4-47AB-F5EF-F7ECD9546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65AED-8DBE-C65E-33F7-A80E126E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5B16DD-AA0B-79C3-F327-1655252B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A77D6-389E-4385-B919-32520EBBB886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2D2E4-A612-B8C8-4844-AA6E2A6E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11FFD-A32E-8900-5121-B4D7FB8D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89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EF346-E218-EF9B-8C7B-3D33C4F8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A5DB8-3EB2-0335-D446-1D671A9BE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33C8C9-DD8C-67F8-255B-95BFF16CA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9ADE3C-24DA-736F-F576-E1CF852BE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3EC4D9-1CDB-4295-B5F6-057D98007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25755C-FCB7-D7AE-A639-89A698E3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83EB-4379-4C4A-A729-83BED85011B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DFF409-AD75-1299-C2E3-40F9126B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D08D6E-1B75-9CCD-DBF8-2C45A076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1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6A457-2B01-380D-1B48-F74AD759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879089-AC7F-D0DE-FC22-5323C0D5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A2FA-8E15-452C-BCBA-7138BF312C2F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570454-E6AD-6206-61FB-DED6A9C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370054-F26B-390B-CC96-8531FCE7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2B80A9-EA06-FEFC-441F-BFCF399B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6177-E219-4A9E-8B2B-5E34E3322412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AC35C1-EAFD-0AF0-E53E-4FAD4EFC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0D458-EC4B-CA29-CC5C-293031BD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5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568E4-1339-17E0-83BB-FE9021CC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CBF48-DC38-540C-0CE2-3DEB210D4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956BD-FEC4-818C-662F-A96522369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E9992-D0B6-C735-D59D-0D65F7F4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6191-433A-4CBD-B79B-1FD571FC08F0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0CFF6-F6C5-9712-4E24-B46FA8CB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10BCE8-1584-ECD8-5BD8-EC2D4C8D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02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5EFAD-D8E7-FAB9-7D8F-8E5CAE32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A8ECA1-057E-286A-8510-8DA425B6B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2E7AC6-9D8F-8F19-F38D-4EF3C8608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E98756-3CCB-29A9-5A4B-F444DEC2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00B89-E558-46DB-9986-9528BDBC138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F45B82-B27C-2E28-F7B8-4CE97D8B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BFDEC9-A09C-8B6C-4A90-602A4CE7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0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71227-7B30-770F-3E11-BD994135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199749-0F54-3C5D-9761-F090D3E19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FE2E2-2D02-C117-8686-ACEA7C9A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3C5F-4006-4632-B3DE-1A450914749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09C6B-3411-D62A-06E3-E235A654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773F-7BBF-71AE-EFAC-49F9470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83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85D89C-E120-6578-1B91-CFFA2A1A7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3E8AF2-A1A1-DF48-3CBA-037CF0721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7811A-F7D2-ADC5-F399-51936045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F847-FBC0-40A1-9801-1A7F5DBD685C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19F9-A6EB-89FE-D0BB-545810ED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C0DB5-06BB-6335-E459-41687904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12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67B07-97FC-9CEC-A108-ACA32C25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CD914E-83EF-9E76-AB4A-4485560A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BC784-B186-8CBA-8D81-2A5BEF3B5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7570D-6A7A-4AF9-B8FF-A0876744ADD1}" type="datetime1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6B8B2-0D42-0AB9-67CD-BE20C708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B687F-F864-E44A-5629-7038BCD15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5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B0204-E658-DA83-3858-DE94CF270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Linear Algerbra Basics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61A28C-E340-CC14-CCBB-FC4A1F2C7D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Date: 2026-01-05</a:t>
            </a: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Presenter: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Jongbum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Won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80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CBDF-BBD6-76E9-2750-A692CD30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89F1-2F57-B5ED-CE4F-F40EF2100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and Matrix Notations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095ED-ECC3-3659-272B-D40F6EC98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333285" cy="1521522"/>
          </a:xfrm>
        </p:spPr>
        <p:txBody>
          <a:bodyPr/>
          <a:lstStyle/>
          <a:p>
            <a:pPr>
              <a:buFontTx/>
              <a:buChar char="-"/>
            </a:pPr>
            <a:r>
              <a:rPr lang="en-US" altLang="ko-KR" b="1" dirty="0"/>
              <a:t>Scalar</a:t>
            </a:r>
            <a:r>
              <a:rPr lang="en-US" altLang="ko-KR" dirty="0"/>
              <a:t>:</a:t>
            </a:r>
            <a:r>
              <a:rPr lang="en-US" altLang="ko-KR" b="1" dirty="0"/>
              <a:t> </a:t>
            </a:r>
            <a:r>
              <a:rPr lang="en-US" altLang="ko-KR" dirty="0"/>
              <a:t>magnitude only</a:t>
            </a:r>
          </a:p>
          <a:p>
            <a:pPr>
              <a:buFontTx/>
              <a:buChar char="-"/>
            </a:pPr>
            <a:r>
              <a:rPr lang="en-US" altLang="ko-KR" b="1" dirty="0"/>
              <a:t>Vector</a:t>
            </a:r>
            <a:r>
              <a:rPr lang="en-US" altLang="ko-KR" dirty="0"/>
              <a:t>: magnitude + direction (boldface, lowercase)</a:t>
            </a:r>
          </a:p>
          <a:p>
            <a:pPr>
              <a:buFontTx/>
              <a:buChar char="-"/>
            </a:pPr>
            <a:r>
              <a:rPr lang="en-US" altLang="ko-KR" b="1" dirty="0"/>
              <a:t>Matrix</a:t>
            </a:r>
            <a:r>
              <a:rPr lang="en-US" altLang="ko-KR" dirty="0"/>
              <a:t>: 2D array of numbers (uppercase)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23510-1528-BDF2-7B72-AA79719A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24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77137-D432-AF9E-D3FB-5B7A6EB8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and Matrix Notations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FA0DDB-EDDC-F4B3-E4AD-986BD5693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333285" cy="1521522"/>
          </a:xfrm>
        </p:spPr>
        <p:txBody>
          <a:bodyPr/>
          <a:lstStyle/>
          <a:p>
            <a:pPr>
              <a:buFontTx/>
              <a:buChar char="-"/>
            </a:pPr>
            <a:r>
              <a:rPr lang="en-US" altLang="ko-KR" b="1" dirty="0"/>
              <a:t>Scalar</a:t>
            </a:r>
            <a:r>
              <a:rPr lang="en-US" altLang="ko-KR" dirty="0"/>
              <a:t>:</a:t>
            </a:r>
            <a:r>
              <a:rPr lang="en-US" altLang="ko-KR" b="1" dirty="0"/>
              <a:t> </a:t>
            </a:r>
            <a:r>
              <a:rPr lang="en-US" altLang="ko-KR" dirty="0"/>
              <a:t>magnitude only</a:t>
            </a:r>
          </a:p>
          <a:p>
            <a:pPr>
              <a:buFontTx/>
              <a:buChar char="-"/>
            </a:pPr>
            <a:r>
              <a:rPr lang="en-US" altLang="ko-KR" b="1" dirty="0"/>
              <a:t>Vector</a:t>
            </a:r>
            <a:r>
              <a:rPr lang="en-US" altLang="ko-KR" dirty="0"/>
              <a:t>: magnitude + direction (boldface, lowercase)</a:t>
            </a:r>
          </a:p>
          <a:p>
            <a:pPr>
              <a:buFontTx/>
              <a:buChar char="-"/>
            </a:pPr>
            <a:r>
              <a:rPr lang="en-US" altLang="ko-KR" b="1" dirty="0"/>
              <a:t>Matrix</a:t>
            </a:r>
            <a:r>
              <a:rPr lang="en-US" altLang="ko-KR" dirty="0"/>
              <a:t>: 2D array of numbers (uppercase)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17243F-B664-5C2A-22DC-6FF52F9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7C98C92B-4510-CFF1-116A-AB0C8B669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177" y="3625786"/>
            <a:ext cx="24765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17A414C6-51A2-C7FF-9B2F-E2116AE3C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161" y="2981325"/>
            <a:ext cx="27336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DB042F45-8B18-DBBF-BBB6-0F5021ACD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170" y="3108595"/>
            <a:ext cx="34671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BE242F-F3C5-5E54-3DE2-997821A0E2D8}"/>
              </a:ext>
            </a:extLst>
          </p:cNvPr>
          <p:cNvSpPr txBox="1"/>
          <p:nvPr/>
        </p:nvSpPr>
        <p:spPr>
          <a:xfrm>
            <a:off x="901290" y="5443171"/>
            <a:ext cx="155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scalar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B33E7-133D-FC73-3C96-B06E32A23FB4}"/>
              </a:ext>
            </a:extLst>
          </p:cNvPr>
          <p:cNvSpPr txBox="1"/>
          <p:nvPr/>
        </p:nvSpPr>
        <p:spPr>
          <a:xfrm>
            <a:off x="3997286" y="5442640"/>
            <a:ext cx="155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vector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CEACA-EC9A-44A9-EBA5-BA0AE9457616}"/>
              </a:ext>
            </a:extLst>
          </p:cNvPr>
          <p:cNvSpPr txBox="1"/>
          <p:nvPr/>
        </p:nvSpPr>
        <p:spPr>
          <a:xfrm>
            <a:off x="8703008" y="5442640"/>
            <a:ext cx="155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matrix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7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50EA-3A6C-BF86-EC4B-9011C085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CC80E-CF73-A72A-E77C-E2749A27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Vector and Matrix Notations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604FB-699D-9C3D-7758-F5F31601B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333285" cy="152152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- An n-dimensional vector typically refers to a </a:t>
            </a:r>
            <a:r>
              <a:rPr lang="en-US" altLang="ko-KR" b="1" dirty="0"/>
              <a:t>column vector </a:t>
            </a:r>
            <a:r>
              <a:rPr lang="en-US" altLang="ko-KR" dirty="0"/>
              <a:t>(i.e., an n × 1 matrix)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43DFD1-4807-92E8-E836-75E97F84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833E7-A70F-D297-6C53-84037E2427DE}"/>
              </a:ext>
            </a:extLst>
          </p:cNvPr>
          <p:cNvSpPr txBox="1"/>
          <p:nvPr/>
        </p:nvSpPr>
        <p:spPr>
          <a:xfrm>
            <a:off x="1100481" y="4909148"/>
            <a:ext cx="230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(column) vector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D95B0E9-EC3F-7B24-B110-7F9F8BD03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099" y="2538412"/>
            <a:ext cx="664845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706580A-781F-8871-8655-08D85BD63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51" y="2581274"/>
            <a:ext cx="31242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2AF98-7667-7FFE-6101-1B3501D458BE}"/>
              </a:ext>
            </a:extLst>
          </p:cNvPr>
          <p:cNvSpPr txBox="1"/>
          <p:nvPr/>
        </p:nvSpPr>
        <p:spPr>
          <a:xfrm>
            <a:off x="7029254" y="4836968"/>
            <a:ext cx="230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row vector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08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89E01-EDE7-206D-5578-A696658E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AF6F3-06BF-E987-0D64-CB567E6A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89C3-8321-B2A1-27B2-F3B8CF83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b="1" dirty="0"/>
              <a:t>Linear equation</a:t>
            </a:r>
            <a:r>
              <a:rPr lang="en-US" altLang="ko-KR" dirty="0"/>
              <a:t>: an equation that may be put in the form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706E1E-3822-7816-6EF3-6B41787E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4C6E38E-89E4-D37B-EAE5-9173DA9D6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1557252"/>
            <a:ext cx="508635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20FE401-F616-3370-8D8E-E0F83EA97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314575"/>
            <a:ext cx="176212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58A2219-5141-A771-6B90-E7ADF893F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809131"/>
            <a:ext cx="2114550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E8D342E-C57D-EB2E-C1BB-6D69CBB58F2D}"/>
              </a:ext>
            </a:extLst>
          </p:cNvPr>
          <p:cNvSpPr txBox="1">
            <a:spLocks/>
          </p:cNvSpPr>
          <p:nvPr/>
        </p:nvSpPr>
        <p:spPr>
          <a:xfrm>
            <a:off x="2333625" y="2219680"/>
            <a:ext cx="8742484" cy="43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are variables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C999845-711C-0F77-2542-F778905C3561}"/>
              </a:ext>
            </a:extLst>
          </p:cNvPr>
          <p:cNvSpPr txBox="1">
            <a:spLocks/>
          </p:cNvSpPr>
          <p:nvPr/>
        </p:nvSpPr>
        <p:spPr>
          <a:xfrm>
            <a:off x="2724150" y="2766623"/>
            <a:ext cx="8742484" cy="43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are coefficients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C017-D59E-BEFC-2C35-041BACAC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27D2F-97E9-F131-8B4D-B2E42D05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498E6-0CD7-5758-4C82-75074A560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b="1" dirty="0"/>
              <a:t>Linear equation</a:t>
            </a:r>
            <a:r>
              <a:rPr lang="en-US" altLang="ko-KR" dirty="0"/>
              <a:t>: an equation that may be put in the form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15E349-DC9F-0777-13AD-39ACCFB4C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52D72C8-339F-BB51-C34B-3380113C4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1557252"/>
            <a:ext cx="508635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8F8F61C-8204-5CF2-8A39-CB901363C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314575"/>
            <a:ext cx="176212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F635061-8C87-9982-F689-B2B80F24B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2809131"/>
            <a:ext cx="2114550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98827EB-9A97-88E6-9550-6A71D39FC8A0}"/>
              </a:ext>
            </a:extLst>
          </p:cNvPr>
          <p:cNvSpPr txBox="1">
            <a:spLocks/>
          </p:cNvSpPr>
          <p:nvPr/>
        </p:nvSpPr>
        <p:spPr>
          <a:xfrm>
            <a:off x="2333625" y="2219680"/>
            <a:ext cx="8742484" cy="43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are variables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89966A7-4162-C756-BB07-766F65C161B0}"/>
              </a:ext>
            </a:extLst>
          </p:cNvPr>
          <p:cNvSpPr txBox="1">
            <a:spLocks/>
          </p:cNvSpPr>
          <p:nvPr/>
        </p:nvSpPr>
        <p:spPr>
          <a:xfrm>
            <a:off x="2724150" y="2766623"/>
            <a:ext cx="8742484" cy="43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are coefficients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56E7C9D-564A-8319-8B97-3D5A412F4C70}"/>
              </a:ext>
            </a:extLst>
          </p:cNvPr>
          <p:cNvGrpSpPr/>
          <p:nvPr/>
        </p:nvGrpSpPr>
        <p:grpSpPr>
          <a:xfrm>
            <a:off x="6704867" y="3885053"/>
            <a:ext cx="3081337" cy="1362075"/>
            <a:chOff x="957263" y="4033838"/>
            <a:chExt cx="3081337" cy="1362075"/>
          </a:xfrm>
        </p:grpSpPr>
        <p:pic>
          <p:nvPicPr>
            <p:cNvPr id="3080" name="Picture 8">
              <a:extLst>
                <a:ext uri="{FF2B5EF4-FFF2-40B4-BE49-F238E27FC236}">
                  <a16:creationId xmlns:a16="http://schemas.microsoft.com/office/drawing/2014/main" id="{61317D7E-EC3E-AD0B-52C1-6C62553FB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7263" y="4033838"/>
              <a:ext cx="1285875" cy="136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2" name="Picture 10">
              <a:extLst>
                <a:ext uri="{FF2B5EF4-FFF2-40B4-BE49-F238E27FC236}">
                  <a16:creationId xmlns:a16="http://schemas.microsoft.com/office/drawing/2014/main" id="{E3FD43F6-15BB-685D-C32C-CA28856CF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4150" y="4033838"/>
              <a:ext cx="1314450" cy="136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FF0C0F-DF03-2579-9105-45C4B859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4418453"/>
            <a:ext cx="222885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43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61A1-F1D9-F619-F0A4-71618B2A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7A6FC-F1B2-33C7-96F6-88325CCE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866E4-469F-5AC2-F0E5-7EF4CC70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b="1" dirty="0"/>
              <a:t>Linear system</a:t>
            </a:r>
            <a:r>
              <a:rPr lang="en-US" altLang="ko-KR" dirty="0"/>
              <a:t>: a set of linear equation involving the same variables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9C83F-0DA4-6F84-6AF2-E86263CD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DA172456-3AE9-3964-7E95-23CF5415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15" y="1081100"/>
            <a:ext cx="188595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2F02971-7FD6-09C4-F57B-88CB24D6F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518767"/>
              </p:ext>
            </p:extLst>
          </p:nvPr>
        </p:nvGraphicFramePr>
        <p:xfrm>
          <a:off x="1832990" y="1708430"/>
          <a:ext cx="8128000" cy="1483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3656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52027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369140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866114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96260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환자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흡연여부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기대수명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314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5.5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95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65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55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6.0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78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502107"/>
                  </a:ext>
                </a:extLst>
              </a:tr>
            </a:tbl>
          </a:graphicData>
        </a:graphic>
      </p:graphicFrame>
      <p:pic>
        <p:nvPicPr>
          <p:cNvPr id="5128" name="Picture 8">
            <a:extLst>
              <a:ext uri="{FF2B5EF4-FFF2-40B4-BE49-F238E27FC236}">
                <a16:creationId xmlns:a16="http://schemas.microsoft.com/office/drawing/2014/main" id="{7C0B05B7-D9D5-5147-F833-44CFAB074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477" y="3797020"/>
            <a:ext cx="362902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1A3B0BC-766F-CF96-37D3-1FF8F5B8EB22}"/>
              </a:ext>
            </a:extLst>
          </p:cNvPr>
          <p:cNvSpPr txBox="1">
            <a:spLocks/>
          </p:cNvSpPr>
          <p:nvPr/>
        </p:nvSpPr>
        <p:spPr>
          <a:xfrm>
            <a:off x="429357" y="5776900"/>
            <a:ext cx="11333285" cy="43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We can predict the newcomer's lifespan if we can solve for x.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953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F9E3-7C07-A00F-D36A-7A650F3E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53871-AF44-6F0E-7C84-09315014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5D95E7-6EAC-A61B-53F1-649B4B159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en-US" altLang="ko-KR" b="1" dirty="0"/>
              <a:t>Linear system</a:t>
            </a:r>
            <a:r>
              <a:rPr lang="en-US" altLang="ko-KR" dirty="0"/>
              <a:t>: a set of linear equation involving the same variables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29211-0FD2-80BA-E404-A6FFA677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EEB4B36-8184-DEF8-B751-D09FB4DC5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015" y="1081100"/>
            <a:ext cx="188595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69555EC-D5DC-9AB6-8FA8-1DC1CBD8701A}"/>
              </a:ext>
            </a:extLst>
          </p:cNvPr>
          <p:cNvGrpSpPr/>
          <p:nvPr/>
        </p:nvGrpSpPr>
        <p:grpSpPr>
          <a:xfrm>
            <a:off x="1781019" y="2107505"/>
            <a:ext cx="8523909" cy="1352550"/>
            <a:chOff x="1438118" y="2012255"/>
            <a:chExt cx="8523909" cy="1352550"/>
          </a:xfrm>
        </p:grpSpPr>
        <p:pic>
          <p:nvPicPr>
            <p:cNvPr id="5128" name="Picture 8">
              <a:extLst>
                <a:ext uri="{FF2B5EF4-FFF2-40B4-BE49-F238E27FC236}">
                  <a16:creationId xmlns:a16="http://schemas.microsoft.com/office/drawing/2014/main" id="{7EBF7802-76F1-59AC-5BBD-D783F748CC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118" y="2012255"/>
              <a:ext cx="3629025" cy="1352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>
              <a:extLst>
                <a:ext uri="{FF2B5EF4-FFF2-40B4-BE49-F238E27FC236}">
                  <a16:creationId xmlns:a16="http://schemas.microsoft.com/office/drawing/2014/main" id="{B58DB94D-5FC6-ECA0-8850-5979B0521F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9025" y="2107505"/>
              <a:ext cx="1343025" cy="1162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>
              <a:extLst>
                <a:ext uri="{FF2B5EF4-FFF2-40B4-BE49-F238E27FC236}">
                  <a16:creationId xmlns:a16="http://schemas.microsoft.com/office/drawing/2014/main" id="{0AC58A0F-4FE6-0242-3BF1-9A2DB1BA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573932" y="2088455"/>
              <a:ext cx="1388095" cy="1181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2107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7E67-AD5D-49EA-5281-241CE3EA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1CCCC-4E11-97A9-9D10-729F4EE8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C498F-8B1F-5F77-B4E9-39E956D9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A linear system can be represented in </a:t>
            </a:r>
            <a:r>
              <a:rPr lang="en-US" altLang="ko-KR" b="1" dirty="0"/>
              <a:t>matrix-vector equation </a:t>
            </a:r>
            <a:r>
              <a:rPr lang="en-US" altLang="ko-KR" dirty="0"/>
              <a:t>as Ax = b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55208-EB10-B01F-1256-D5F8A91F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91950C2-BA4F-8083-DF8A-E97132C41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7" y="4162965"/>
            <a:ext cx="85820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F211089-E464-8792-F5BA-8D85311BAE12}"/>
              </a:ext>
            </a:extLst>
          </p:cNvPr>
          <p:cNvGrpSpPr/>
          <p:nvPr/>
        </p:nvGrpSpPr>
        <p:grpSpPr>
          <a:xfrm>
            <a:off x="1781019" y="2107505"/>
            <a:ext cx="8523909" cy="1352550"/>
            <a:chOff x="1438118" y="2012255"/>
            <a:chExt cx="8523909" cy="1352550"/>
          </a:xfrm>
        </p:grpSpPr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id="{DAF6ABD6-7779-CBCF-4A72-BE99739D0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118" y="2012255"/>
              <a:ext cx="3629025" cy="1352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DC99C810-C3C6-09FC-D04E-03F3155E36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9025" y="2107505"/>
              <a:ext cx="1343025" cy="1162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CC204ABB-D86D-A811-C391-C8E079A56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573932" y="2088455"/>
              <a:ext cx="1388095" cy="1181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27718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BE700-499A-A725-DDFC-97D4039A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027CE-14A1-8870-04FF-42534FCF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equation and system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FC0222-FA97-97D7-5436-8267247EA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5"/>
            <a:ext cx="11333285" cy="437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- A linear system can be represented in </a:t>
            </a:r>
            <a:r>
              <a:rPr lang="en-US" altLang="ko-KR" b="1" dirty="0"/>
              <a:t>matrix-vector equation </a:t>
            </a:r>
            <a:r>
              <a:rPr lang="en-US" altLang="ko-KR" dirty="0"/>
              <a:t>as Ax = b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B874FA-99C2-1643-A56D-EB50DC22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1A6980B-747B-AF38-14ED-DC0D276D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7" y="4162965"/>
            <a:ext cx="8582025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E63E2E4-6C44-D5EA-963D-FFBCEA3AC0B8}"/>
              </a:ext>
            </a:extLst>
          </p:cNvPr>
          <p:cNvSpPr/>
          <p:nvPr/>
        </p:nvSpPr>
        <p:spPr>
          <a:xfrm>
            <a:off x="1687399" y="4423527"/>
            <a:ext cx="1282045" cy="650449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EE7DB9-1F1E-89EC-C6EA-C96F925CFA1D}"/>
              </a:ext>
            </a:extLst>
          </p:cNvPr>
          <p:cNvSpPr/>
          <p:nvPr/>
        </p:nvSpPr>
        <p:spPr>
          <a:xfrm>
            <a:off x="1687399" y="1993134"/>
            <a:ext cx="3893269" cy="1574129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49C38F8-98A7-D71E-B674-202DD50E5149}"/>
              </a:ext>
            </a:extLst>
          </p:cNvPr>
          <p:cNvCxnSpPr>
            <a:cxnSpLocks/>
          </p:cNvCxnSpPr>
          <p:nvPr/>
        </p:nvCxnSpPr>
        <p:spPr>
          <a:xfrm>
            <a:off x="2328420" y="3804746"/>
            <a:ext cx="0" cy="433633"/>
          </a:xfrm>
          <a:prstGeom prst="straightConnector1">
            <a:avLst/>
          </a:prstGeom>
          <a:ln w="57150">
            <a:solidFill>
              <a:srgbClr val="EE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그룹 4">
            <a:extLst>
              <a:ext uri="{FF2B5EF4-FFF2-40B4-BE49-F238E27FC236}">
                <a16:creationId xmlns:a16="http://schemas.microsoft.com/office/drawing/2014/main" id="{5D7A2AC7-38E9-C188-1FD8-E1C84C850891}"/>
              </a:ext>
            </a:extLst>
          </p:cNvPr>
          <p:cNvGrpSpPr/>
          <p:nvPr/>
        </p:nvGrpSpPr>
        <p:grpSpPr>
          <a:xfrm>
            <a:off x="1781019" y="2107505"/>
            <a:ext cx="8523909" cy="1352550"/>
            <a:chOff x="1438118" y="2012255"/>
            <a:chExt cx="8523909" cy="13525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855F5E-8D78-5FC0-ECE3-E4E06C74F1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118" y="2012255"/>
              <a:ext cx="3629025" cy="1352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6F047CDE-E793-FBD1-CB11-EE7C7BED0A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9025" y="2107505"/>
              <a:ext cx="1343025" cy="1162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3A14CD9B-B9AB-CEED-3D97-5B4B0C19F6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573932" y="2088455"/>
              <a:ext cx="1388095" cy="1181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47614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3545</TotalTime>
  <Words>304</Words>
  <Application>Microsoft Office PowerPoint</Application>
  <PresentationFormat>와이드스크린</PresentationFormat>
  <Paragraphs>70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테마</vt:lpstr>
      <vt:lpstr> Linear Algerbra Basics</vt:lpstr>
      <vt:lpstr>Vector and Matrix Notations</vt:lpstr>
      <vt:lpstr>Vector and Matrix Notations</vt:lpstr>
      <vt:lpstr>Vector and Matrix Notations</vt:lpstr>
      <vt:lpstr>Linear equation and system</vt:lpstr>
      <vt:lpstr>Linear equation and system</vt:lpstr>
      <vt:lpstr>Linear equation and system</vt:lpstr>
      <vt:lpstr>Linear equation and system</vt:lpstr>
      <vt:lpstr>Linear equation and system</vt:lpstr>
      <vt:lpstr>Linear equation and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 Bum Won</dc:creator>
  <cp:lastModifiedBy>김지헌</cp:lastModifiedBy>
  <cp:revision>544</cp:revision>
  <dcterms:created xsi:type="dcterms:W3CDTF">2025-12-30T11:13:34Z</dcterms:created>
  <dcterms:modified xsi:type="dcterms:W3CDTF">2026-01-12T13:20:25Z</dcterms:modified>
</cp:coreProperties>
</file>