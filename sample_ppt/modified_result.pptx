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3" r:id="rId3"/>
    <p:sldId id="274" r:id="rId4"/>
    <p:sldId id="276" r:id="rId5"/>
    <p:sldId id="275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8F3A920-D2AC-49E3-9253-E1311F72588A}" v="5" dt="2025-12-23T14:57:28.4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8" autoAdjust="0"/>
    <p:restoredTop sz="94660"/>
  </p:normalViewPr>
  <p:slideViewPr>
    <p:cSldViewPr snapToGrid="0">
      <p:cViewPr varScale="1">
        <p:scale>
          <a:sx n="64" d="100"/>
          <a:sy n="64" d="100"/>
        </p:scale>
        <p:origin x="74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6/11/relationships/changesInfo" Target="changesInfos/changesInfo1.xml"/><Relationship Id="rId1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eungil2301@gmail.com" userId="24d39f2b2912d2c3" providerId="LiveId" clId="{6337E1C3-957D-4487-8895-204E8E65FE30}"/>
    <pc:docChg chg="undo custSel modSld">
      <pc:chgData name="haeungil2301@gmail.com" userId="24d39f2b2912d2c3" providerId="LiveId" clId="{6337E1C3-957D-4487-8895-204E8E65FE30}" dt="2025-12-23T14:59:01.098" v="34" actId="313"/>
      <pc:docMkLst>
        <pc:docMk/>
      </pc:docMkLst>
      <pc:sldChg chg="modSp mod">
        <pc:chgData name="haeungil2301@gmail.com" userId="24d39f2b2912d2c3" providerId="LiveId" clId="{6337E1C3-957D-4487-8895-204E8E65FE30}" dt="2025-12-23T14:59:01.098" v="34" actId="313"/>
        <pc:sldMkLst>
          <pc:docMk/>
          <pc:sldMk cId="3424812295" sldId="256"/>
        </pc:sldMkLst>
        <pc:spChg chg="mod">
          <ac:chgData name="haeungil2301@gmail.com" userId="24d39f2b2912d2c3" providerId="LiveId" clId="{6337E1C3-957D-4487-8895-204E8E65FE30}" dt="2025-12-23T14:59:01.098" v="34" actId="313"/>
          <ac:spMkLst>
            <pc:docMk/>
            <pc:sldMk cId="3424812295" sldId="256"/>
            <ac:spMk id="2" creationId="{B6141410-D34E-1C55-7DB4-6B9CA8960DF9}"/>
          </ac:spMkLst>
        </pc:spChg>
        <pc:spChg chg="mod">
          <ac:chgData name="haeungil2301@gmail.com" userId="24d39f2b2912d2c3" providerId="LiveId" clId="{6337E1C3-957D-4487-8895-204E8E65FE30}" dt="2025-12-23T14:55:33.939" v="2" actId="2711"/>
          <ac:spMkLst>
            <pc:docMk/>
            <pc:sldMk cId="3424812295" sldId="256"/>
            <ac:spMk id="3" creationId="{713B4E5B-8B6C-F3AE-B970-F79492CE624E}"/>
          </ac:spMkLst>
        </pc:spChg>
      </pc:sldChg>
      <pc:sldChg chg="modSp">
        <pc:chgData name="haeungil2301@gmail.com" userId="24d39f2b2912d2c3" providerId="LiveId" clId="{6337E1C3-957D-4487-8895-204E8E65FE30}" dt="2025-12-23T14:55:21.668" v="0"/>
        <pc:sldMkLst>
          <pc:docMk/>
          <pc:sldMk cId="3291699447" sldId="273"/>
        </pc:sldMkLst>
        <pc:spChg chg="mod">
          <ac:chgData name="haeungil2301@gmail.com" userId="24d39f2b2912d2c3" providerId="LiveId" clId="{6337E1C3-957D-4487-8895-204E8E65FE30}" dt="2025-12-23T14:55:21.668" v="0"/>
          <ac:spMkLst>
            <pc:docMk/>
            <pc:sldMk cId="3291699447" sldId="273"/>
            <ac:spMk id="2" creationId="{2823F772-8D1E-EE80-2848-150E69D38075}"/>
          </ac:spMkLst>
        </pc:spChg>
        <pc:spChg chg="mod">
          <ac:chgData name="haeungil2301@gmail.com" userId="24d39f2b2912d2c3" providerId="LiveId" clId="{6337E1C3-957D-4487-8895-204E8E65FE30}" dt="2025-12-23T14:55:21.668" v="0"/>
          <ac:spMkLst>
            <pc:docMk/>
            <pc:sldMk cId="3291699447" sldId="273"/>
            <ac:spMk id="3" creationId="{53285324-08BB-A808-923D-67DFB5A29A4F}"/>
          </ac:spMkLst>
        </pc:spChg>
      </pc:sldChg>
      <pc:sldChg chg="modSp mod">
        <pc:chgData name="haeungil2301@gmail.com" userId="24d39f2b2912d2c3" providerId="LiveId" clId="{6337E1C3-957D-4487-8895-204E8E65FE30}" dt="2025-12-23T14:56:08.413" v="3" actId="2711"/>
        <pc:sldMkLst>
          <pc:docMk/>
          <pc:sldMk cId="2952981542" sldId="274"/>
        </pc:sldMkLst>
        <pc:spChg chg="mod">
          <ac:chgData name="haeungil2301@gmail.com" userId="24d39f2b2912d2c3" providerId="LiveId" clId="{6337E1C3-957D-4487-8895-204E8E65FE30}" dt="2025-12-23T14:56:08.413" v="3" actId="2711"/>
          <ac:spMkLst>
            <pc:docMk/>
            <pc:sldMk cId="2952981542" sldId="274"/>
            <ac:spMk id="2" creationId="{25DD968C-D9A8-517F-7A3B-47BED4D6A1CD}"/>
          </ac:spMkLst>
        </pc:spChg>
        <pc:spChg chg="mod">
          <ac:chgData name="haeungil2301@gmail.com" userId="24d39f2b2912d2c3" providerId="LiveId" clId="{6337E1C3-957D-4487-8895-204E8E65FE30}" dt="2025-12-23T14:56:08.413" v="3" actId="2711"/>
          <ac:spMkLst>
            <pc:docMk/>
            <pc:sldMk cId="2952981542" sldId="274"/>
            <ac:spMk id="3" creationId="{83448771-BF60-14B6-0DE5-64D1A1CDFA52}"/>
          </ac:spMkLst>
        </pc:spChg>
      </pc:sldChg>
      <pc:sldChg chg="modSp mod">
        <pc:chgData name="haeungil2301@gmail.com" userId="24d39f2b2912d2c3" providerId="LiveId" clId="{6337E1C3-957D-4487-8895-204E8E65FE30}" dt="2025-12-23T14:56:45.961" v="17" actId="20577"/>
        <pc:sldMkLst>
          <pc:docMk/>
          <pc:sldMk cId="334150511" sldId="275"/>
        </pc:sldMkLst>
        <pc:spChg chg="mod">
          <ac:chgData name="haeungil2301@gmail.com" userId="24d39f2b2912d2c3" providerId="LiveId" clId="{6337E1C3-957D-4487-8895-204E8E65FE30}" dt="2025-12-23T14:56:32.401" v="8" actId="1076"/>
          <ac:spMkLst>
            <pc:docMk/>
            <pc:sldMk cId="334150511" sldId="275"/>
            <ac:spMk id="2" creationId="{794F5D0F-7EC9-0987-383F-89D30DA40B25}"/>
          </ac:spMkLst>
        </pc:spChg>
        <pc:spChg chg="mod">
          <ac:chgData name="haeungil2301@gmail.com" userId="24d39f2b2912d2c3" providerId="LiveId" clId="{6337E1C3-957D-4487-8895-204E8E65FE30}" dt="2025-12-23T14:56:45.961" v="17" actId="20577"/>
          <ac:spMkLst>
            <pc:docMk/>
            <pc:sldMk cId="334150511" sldId="275"/>
            <ac:spMk id="3" creationId="{42C670C0-3419-B4FF-445B-FED79C35F26D}"/>
          </ac:spMkLst>
        </pc:spChg>
        <pc:picChg chg="mod">
          <ac:chgData name="haeungil2301@gmail.com" userId="24d39f2b2912d2c3" providerId="LiveId" clId="{6337E1C3-957D-4487-8895-204E8E65FE30}" dt="2025-12-23T14:56:32.401" v="8" actId="1076"/>
          <ac:picMkLst>
            <pc:docMk/>
            <pc:sldMk cId="334150511" sldId="275"/>
            <ac:picMk id="6" creationId="{69958083-436C-028A-D71A-F3C07F66C68E}"/>
          </ac:picMkLst>
        </pc:picChg>
      </pc:sldChg>
      <pc:sldChg chg="modSp mod">
        <pc:chgData name="haeungil2301@gmail.com" userId="24d39f2b2912d2c3" providerId="LiveId" clId="{6337E1C3-957D-4487-8895-204E8E65FE30}" dt="2025-12-23T14:57:28.436" v="21" actId="20577"/>
        <pc:sldMkLst>
          <pc:docMk/>
          <pc:sldMk cId="517572386" sldId="276"/>
        </pc:sldMkLst>
        <pc:spChg chg="mod">
          <ac:chgData name="haeungil2301@gmail.com" userId="24d39f2b2912d2c3" providerId="LiveId" clId="{6337E1C3-957D-4487-8895-204E8E65FE30}" dt="2025-12-23T14:56:18.516" v="5" actId="20577"/>
          <ac:spMkLst>
            <pc:docMk/>
            <pc:sldMk cId="517572386" sldId="276"/>
            <ac:spMk id="2" creationId="{8D018BAA-948C-8810-A547-0FC1EF2E39AE}"/>
          </ac:spMkLst>
        </pc:spChg>
        <pc:spChg chg="mod">
          <ac:chgData name="haeungil2301@gmail.com" userId="24d39f2b2912d2c3" providerId="LiveId" clId="{6337E1C3-957D-4487-8895-204E8E65FE30}" dt="2025-12-23T14:57:28.436" v="21" actId="20577"/>
          <ac:spMkLst>
            <pc:docMk/>
            <pc:sldMk cId="517572386" sldId="276"/>
            <ac:spMk id="3" creationId="{EB1CA930-DB10-1AEA-5B45-B289239483CE}"/>
          </ac:spMkLst>
        </pc:s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08461-B32B-4F48-B765-706AC0B3484C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3DB10C37-22A6-407E-8583-A5388C84D465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4035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08461-B32B-4F48-B765-706AC0B3484C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10C37-22A6-407E-8583-A5388C84D465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1209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08461-B32B-4F48-B765-706AC0B3484C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10C37-22A6-407E-8583-A5388C84D465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5495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08461-B32B-4F48-B765-706AC0B3484C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10C37-22A6-407E-8583-A5388C84D465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755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08461-B32B-4F48-B765-706AC0B3484C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10C37-22A6-407E-8583-A5388C84D465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9962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08461-B32B-4F48-B765-706AC0B3484C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10C37-22A6-407E-8583-A5388C84D465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5296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08461-B32B-4F48-B765-706AC0B3484C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10C37-22A6-407E-8583-A5388C84D4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8861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08461-B32B-4F48-B765-706AC0B3484C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10C37-22A6-407E-8583-A5388C84D465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8743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FF108461-B32B-4F48-B765-706AC0B3484C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10C37-22A6-407E-8583-A5388C84D465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8247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08461-B32B-4F48-B765-706AC0B3484C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10C37-22A6-407E-8583-A5388C84D465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45061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08461-B32B-4F48-B765-706AC0B3484C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10C37-22A6-407E-8583-A5388C84D465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031768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108461-B32B-4F48-B765-706AC0B3484C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3DB10C37-22A6-407E-8583-A5388C84D465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7348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141410-D34E-1C55-7DB4-6B9CA8960D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>
            <a:normAutofit fontScale="90000"/>
          </a:bodyPr>
          <a:lstStyle/>
          <a:p>
            <a:r>
              <a:rPr sz="4400" b="0" i="0">
                <a:solidFill>
                  <a:srgbClr val="FF0000"/>
                </a:solidFill>
                <a:latin typeface="Batang"/>
              </a:rPr>
              <a:t>수정된 제목</a:t>
            </a:r>
            <a:r>
              <a:rPr sz="4400" b="0" i="0">
                <a:solidFill>
                  <a:srgbClr val="000000"/>
                </a:solidFill>
                <a:latin typeface="Batang"/>
              </a:rPr>
              <a:t>‘</a:t>
            </a:r>
            <a:r>
              <a:rPr sz="4400" b="0" i="0">
                <a:solidFill>
                  <a:srgbClr val="000000"/>
                </a:solidFill>
                <a:latin typeface="Batang"/>
              </a:rPr>
              <a:t>파보아</a:t>
            </a:r>
            <a:r>
              <a:rPr sz="4400" b="0" i="0">
                <a:solidFill>
                  <a:srgbClr val="000000"/>
                </a:solidFill>
                <a:latin typeface="Batang"/>
              </a:rPr>
              <a:t>’:</a:t>
            </a:r>
            <a:r>
              <a:rPr sz="4400" b="0" i="0">
                <a:solidFill>
                  <a:srgbClr val="000000"/>
                </a:solidFill>
                <a:latin typeface="Batang"/>
              </a:rPr>
              <a:t>안면골절 </a:t>
            </a:r>
            <a:r>
              <a:rPr sz="4400" b="0" i="0">
                <a:solidFill>
                  <a:srgbClr val="000000"/>
                </a:solidFill>
                <a:latin typeface="Batang"/>
              </a:rPr>
              <a:t>진단 인공지능</a:t>
            </a:r>
            <a:endParaRPr lang="ko-KR" altLang="en-US" dirty="0"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13B4E5B-8B6C-F3AE-B970-F79492CE62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17780" y="3531203"/>
            <a:ext cx="8637072" cy="977621"/>
          </a:xfrm>
        </p:spPr>
        <p:txBody>
          <a:bodyPr/>
          <a:lstStyle/>
          <a:p>
            <a:r>
              <a:rPr sz="4400" b="0" i="0">
                <a:solidFill>
                  <a:srgbClr val="000000"/>
                </a:solidFill>
                <a:latin typeface="HY헤드라인M"/>
              </a:rPr>
              <a:t>2025314185 </a:t>
            </a:r>
            <a:r>
              <a:rPr sz="4400" b="0" i="0">
                <a:solidFill>
                  <a:srgbClr val="000000"/>
                </a:solidFill>
                <a:latin typeface="HY헤드라인M"/>
              </a:rPr>
              <a:t>길하은</a:t>
            </a:r>
          </a:p>
        </p:txBody>
      </p:sp>
    </p:spTree>
    <p:extLst>
      <p:ext uri="{BB962C8B-B14F-4D97-AF65-F5344CB8AC3E}">
        <p14:creationId xmlns:p14="http://schemas.microsoft.com/office/powerpoint/2010/main" val="3424812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23F772-8D1E-EE80-2848-150E69D38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3285324-08BB-A808-923D-67DFB5A29A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450613"/>
          </a:xfrm>
        </p:spPr>
        <p:txBody>
          <a:bodyPr/>
          <a:lstStyle/>
          <a:p>
            <a:endParaRPr lang="ko-KR" altLang="en-US" dirty="0"/>
          </a:p>
        </p:txBody>
      </p:sp>
      <p:pic>
        <p:nvPicPr>
          <p:cNvPr id="5" name="그림 4" descr="텍스트, 스크린샷, 웹사이트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BA1C17B-2AE3-B406-48D3-97DA91FA57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505" t="15097" r="15684" b="25438"/>
          <a:stretch>
            <a:fillRect/>
          </a:stretch>
        </p:blipFill>
        <p:spPr>
          <a:xfrm>
            <a:off x="838200" y="492369"/>
            <a:ext cx="10672059" cy="534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699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DD968C-D9A8-517F-7A3B-47BED4D6A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/>
          <a:lstStyle/>
          <a:p>
            <a:r>
              <a:rPr sz="4400" b="0" i="0">
                <a:solidFill>
                  <a:srgbClr val="000000"/>
                </a:solidFill>
                <a:latin typeface="HY헤드라인M"/>
              </a:rPr>
              <a:t>지오비전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448771-BF60-14B6-0DE5-64D1A1CDFA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450613"/>
          </a:xfrm>
        </p:spPr>
        <p:txBody>
          <a:bodyPr/>
          <a:lstStyle/>
          <a:p>
            <a:endParaRPr lang="ko-KR" altLang="en-US" b="0" i="0" u="none" strike="noStrike" dirty="0">
              <a:solidFill>
                <a:srgbClr val="111111"/>
              </a:solidFill>
              <a:effectLst/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sz="1800" b="0" i="0">
                <a:solidFill>
                  <a:srgbClr val="111111"/>
                </a:solidFill>
                <a:latin typeface="HY헤드라인M"/>
              </a:rPr>
              <a:t>인공지능 기술을 이용해 테이터 분석 소프트웨어를 전문적으로 개발하는 스타트업으로 시작</a:t>
            </a:r>
            <a:r>
              <a:rPr sz="1800" b="0" i="0">
                <a:solidFill>
                  <a:srgbClr val="111111"/>
                </a:solidFill>
                <a:latin typeface="HY헤드라인M"/>
              </a:rPr>
              <a:t>, </a:t>
            </a:r>
            <a:r>
              <a:rPr sz="1800" b="0" i="0">
                <a:solidFill>
                  <a:srgbClr val="111111"/>
                </a:solidFill>
                <a:latin typeface="HY헤드라인M"/>
              </a:rPr>
              <a:t>기술력을 인정받는 전문기업</a:t>
            </a:r>
          </a:p>
          <a:p>
            <a:r>
              <a:rPr sz="1800" b="0" i="0">
                <a:solidFill>
                  <a:srgbClr val="111111"/>
                </a:solidFill>
                <a:latin typeface="HY헤드라인M"/>
              </a:rPr>
              <a:t>지오비전이 개발한 </a:t>
            </a:r>
            <a:r>
              <a:rPr sz="1800" b="0" i="0">
                <a:solidFill>
                  <a:srgbClr val="111111"/>
                </a:solidFill>
                <a:latin typeface="HY헤드라인M"/>
              </a:rPr>
              <a:t>'</a:t>
            </a:r>
            <a:r>
              <a:rPr sz="1800" b="0" i="0">
                <a:solidFill>
                  <a:srgbClr val="111111"/>
                </a:solidFill>
                <a:latin typeface="HY헤드라인M"/>
              </a:rPr>
              <a:t>ZioSummary'</a:t>
            </a:r>
            <a:r>
              <a:rPr sz="1800" b="0" i="0">
                <a:solidFill>
                  <a:srgbClr val="111111"/>
                </a:solidFill>
                <a:latin typeface="HY헤드라인M"/>
              </a:rPr>
              <a:t>는 국내 유일의 </a:t>
            </a:r>
            <a:r>
              <a:rPr sz="1800" b="0" i="0">
                <a:solidFill>
                  <a:srgbClr val="111111"/>
                </a:solidFill>
                <a:latin typeface="HY헤드라인M"/>
              </a:rPr>
              <a:t>AI </a:t>
            </a:r>
            <a:r>
              <a:rPr sz="1800" b="0" i="0">
                <a:solidFill>
                  <a:srgbClr val="111111"/>
                </a:solidFill>
                <a:latin typeface="HY헤드라인M"/>
              </a:rPr>
              <a:t>동영상 요약</a:t>
            </a:r>
            <a:r>
              <a:rPr sz="1800" b="0" i="0">
                <a:solidFill>
                  <a:srgbClr val="111111"/>
                </a:solidFill>
                <a:latin typeface="HY헤드라인M"/>
              </a:rPr>
              <a:t>·</a:t>
            </a:r>
            <a:r>
              <a:rPr sz="1800" b="0" i="0">
                <a:solidFill>
                  <a:srgbClr val="111111"/>
                </a:solidFill>
                <a:latin typeface="HY헤드라인M"/>
              </a:rPr>
              <a:t>스마트 고속검색 솔루션으로</a:t>
            </a:r>
            <a:r>
              <a:rPr sz="1800" b="0" i="0">
                <a:solidFill>
                  <a:srgbClr val="111111"/>
                </a:solidFill>
                <a:latin typeface="HY헤드라인M"/>
              </a:rPr>
              <a:t>, </a:t>
            </a:r>
            <a:r>
              <a:rPr sz="1800" b="0" i="0">
                <a:solidFill>
                  <a:srgbClr val="111111"/>
                </a:solidFill>
                <a:latin typeface="HY헤드라인M"/>
              </a:rPr>
              <a:t>약 </a:t>
            </a:r>
            <a:r>
              <a:rPr sz="1800" b="0" i="0">
                <a:solidFill>
                  <a:srgbClr val="111111"/>
                </a:solidFill>
                <a:latin typeface="HY헤드라인M"/>
              </a:rPr>
              <a:t>10</a:t>
            </a:r>
            <a:r>
              <a:rPr sz="1800" b="0" i="0">
                <a:solidFill>
                  <a:srgbClr val="111111"/>
                </a:solidFill>
                <a:latin typeface="HY헤드라인M"/>
              </a:rPr>
              <a:t>시간의 동영상을 약 </a:t>
            </a:r>
            <a:r>
              <a:rPr sz="1800" b="0" i="0">
                <a:solidFill>
                  <a:srgbClr val="111111"/>
                </a:solidFill>
                <a:latin typeface="HY헤드라인M"/>
              </a:rPr>
              <a:t>20</a:t>
            </a:r>
            <a:r>
              <a:rPr sz="1800" b="0" i="0">
                <a:solidFill>
                  <a:srgbClr val="111111"/>
                </a:solidFill>
                <a:latin typeface="HY헤드라인M"/>
              </a:rPr>
              <a:t>분 내외의 영상으로 요약하는 능력</a:t>
            </a:r>
            <a:endParaRPr lang="ko-KR" altLang="en-US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52981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018BAA-948C-8810-A547-0FC1EF2E3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/>
          <a:lstStyle/>
          <a:p>
            <a:r>
              <a:rPr sz="4400" b="0" i="0">
                <a:solidFill>
                  <a:srgbClr val="000000"/>
                </a:solidFill>
                <a:latin typeface="HY헤드라인M"/>
              </a:rPr>
              <a:t>기존 문제점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EB1CA930-DB10-1AEA-5B45-B289239483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b="0" i="0" u="none" strike="noStrike" dirty="0">
                    <a:solidFill>
                      <a:srgbClr val="111111"/>
                    </a:solidFill>
                    <a:effectLst/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안면골 골절은 각종 사고나 상해로 자주 발생하는 부위로 대부분의 의료기관에서 </a:t>
                </a:r>
                <a:r>
                  <a:rPr lang="af-ZA" altLang="ko-KR" b="0" i="0" u="none" strike="noStrike" dirty="0">
                    <a:solidFill>
                      <a:srgbClr val="111111"/>
                    </a:solidFill>
                    <a:effectLst/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CT </a:t>
                </a:r>
                <a:r>
                  <a:rPr lang="ko-KR" altLang="en-US" b="0" i="0" u="none" strike="noStrike" dirty="0">
                    <a:solidFill>
                      <a:srgbClr val="111111"/>
                    </a:solidFill>
                    <a:effectLst/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촬영으로 진단이 가능하지만 영상 전문의나 성형외과 전문의가 없을 경우 판독을 할 수 없다는 단점</a:t>
                </a:r>
              </a:p>
              <a:p>
                <a:r>
                  <a:rPr lang="ko-KR" altLang="en-US" b="0" i="0" u="none" strike="noStrike" dirty="0">
                    <a:solidFill>
                      <a:srgbClr val="111111"/>
                    </a:solidFill>
                    <a:effectLst/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전문가 판독을 받지 못할 경우 안면골 골절 조치 치료에 필요한 골든 타임을 놓칠 수 있음</a:t>
                </a:r>
                <a:endParaRPr lang="en-US" altLang="ko-KR" dirty="0">
                  <a:solidFill>
                    <a:srgbClr val="11111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ko-KR" altLang="en-US" b="0" i="1" u="none" strike="noStrike" dirty="0" smtClean="0">
                        <a:solidFill>
                          <a:srgbClr val="111111"/>
                        </a:solidFill>
                        <a:effectLst/>
                        <a:latin typeface="Cambria Math" panose="02040503050406030204" pitchFamily="18" charset="0"/>
                        <a:ea typeface="HY헤드라인M" panose="02030600000101010101" pitchFamily="18" charset="-127"/>
                      </a:rPr>
                      <m:t>→</m:t>
                    </m:r>
                  </m:oMath>
                </a14:m>
                <a:r>
                  <a:rPr lang="ko-KR" altLang="en-US" b="0" i="0" u="none" strike="noStrike" dirty="0">
                    <a:solidFill>
                      <a:srgbClr val="111111"/>
                    </a:solidFill>
                    <a:effectLst/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 안면비대칭</a:t>
                </a:r>
                <a:r>
                  <a:rPr lang="en-US" altLang="ko-KR" b="0" i="0" u="none" strike="noStrike" dirty="0">
                    <a:solidFill>
                      <a:srgbClr val="111111"/>
                    </a:solidFill>
                    <a:effectLst/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, </a:t>
                </a:r>
                <a:r>
                  <a:rPr lang="ko-KR" altLang="en-US" b="0" i="0" u="none" strike="noStrike" dirty="0">
                    <a:solidFill>
                      <a:srgbClr val="111111"/>
                    </a:solidFill>
                    <a:effectLst/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축농증</a:t>
                </a:r>
                <a:r>
                  <a:rPr lang="en-US" altLang="ko-KR" b="0" i="0" u="none" strike="noStrike" dirty="0">
                    <a:solidFill>
                      <a:srgbClr val="111111"/>
                    </a:solidFill>
                    <a:effectLst/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, </a:t>
                </a:r>
                <a:r>
                  <a:rPr lang="ko-KR" altLang="en-US" b="0" i="0" u="none" strike="noStrike" dirty="0">
                    <a:solidFill>
                      <a:srgbClr val="111111"/>
                    </a:solidFill>
                    <a:effectLst/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시력저하</a:t>
                </a:r>
                <a:r>
                  <a:rPr lang="en-US" altLang="ko-KR" b="0" i="0" u="none" strike="noStrike" dirty="0">
                    <a:solidFill>
                      <a:srgbClr val="111111"/>
                    </a:solidFill>
                    <a:effectLst/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, </a:t>
                </a:r>
                <a:r>
                  <a:rPr lang="ko-KR" altLang="en-US" b="0" i="0" u="none" strike="noStrike" dirty="0">
                    <a:solidFill>
                      <a:srgbClr val="111111"/>
                    </a:solidFill>
                    <a:effectLst/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실명 등 여러 종류의 후유증 발생</a:t>
                </a:r>
                <a:endParaRPr lang="ko-KR" altLang="en-US" dirty="0"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EB1CA930-DB10-1AEA-5B45-B289239483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71" t="-707" r="-31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75723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4F5D0F-7EC9-0987-383F-89D30DA40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80" y="804520"/>
            <a:ext cx="10447344" cy="1710080"/>
          </a:xfrm>
        </p:spPr>
        <p:txBody>
          <a:bodyPr>
            <a:normAutofit/>
          </a:bodyPr>
          <a:lstStyle/>
          <a:p>
            <a:r>
              <a:rPr sz="4400" b="0" i="0">
                <a:solidFill>
                  <a:srgbClr val="111111"/>
                </a:solidFill>
                <a:latin typeface="HY헤드라인M"/>
              </a:rPr>
              <a:t>지오비전이 개발한 </a:t>
            </a:r>
            <a:r>
              <a:rPr sz="4400" b="0" i="0">
                <a:solidFill>
                  <a:srgbClr val="111111"/>
                </a:solidFill>
                <a:latin typeface="HY헤드라인M"/>
              </a:rPr>
              <a:t>AI </a:t>
            </a:r>
            <a:r>
              <a:rPr sz="4400" b="0" i="0">
                <a:solidFill>
                  <a:srgbClr val="111111"/>
                </a:solidFill>
                <a:latin typeface="HY헤드라인M"/>
              </a:rPr>
              <a:t>기반의 안면골 골절 탐지 솔루션 </a:t>
            </a:r>
            <a:r>
              <a:rPr sz="4400" b="0" i="0">
                <a:solidFill>
                  <a:srgbClr val="111111"/>
                </a:solidFill>
                <a:latin typeface="HY헤드라인M"/>
              </a:rPr>
              <a:t>'</a:t>
            </a:r>
            <a:r>
              <a:rPr sz="4400" b="0" i="0">
                <a:solidFill>
                  <a:srgbClr val="111111"/>
                </a:solidFill>
                <a:latin typeface="HY헤드라인M"/>
              </a:rPr>
              <a:t>FaBo</a:t>
            </a:r>
            <a:r>
              <a:rPr sz="4400" b="0" i="0">
                <a:solidFill>
                  <a:srgbClr val="111111"/>
                </a:solidFill>
                <a:latin typeface="HY헤드라인M"/>
              </a:rPr>
              <a:t>A</a:t>
            </a:r>
            <a:r>
              <a:rPr sz="4400" b="0" i="0">
                <a:solidFill>
                  <a:srgbClr val="111111"/>
                </a:solidFill>
                <a:latin typeface="HY헤드라인M"/>
              </a:rPr>
              <a:t>＇</a:t>
            </a:r>
            <a:endParaRPr lang="ko-KR" altLang="en-US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2C670C0-3419-B4FF-445B-FED79C35F2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2443" y="1947165"/>
            <a:ext cx="7270262" cy="4351338"/>
          </a:xfrm>
        </p:spPr>
        <p:txBody>
          <a:bodyPr>
            <a:normAutofit fontScale="92500" lnSpcReduction="20000"/>
          </a:bodyPr>
          <a:lstStyle/>
          <a:p>
            <a:r>
              <a:rPr sz="1800" b="0" i="0">
                <a:solidFill>
                  <a:srgbClr val="111111"/>
                </a:solidFill>
                <a:latin typeface="HY헤드라인M"/>
              </a:rPr>
              <a:t>안면골 골절 부위를 촬영한 </a:t>
            </a:r>
            <a:r>
              <a:rPr sz="1800" b="0" i="0">
                <a:solidFill>
                  <a:srgbClr val="111111"/>
                </a:solidFill>
                <a:latin typeface="HY헤드라인M"/>
              </a:rPr>
              <a:t>Facial CT</a:t>
            </a:r>
            <a:r>
              <a:rPr sz="1800" b="0" i="0">
                <a:solidFill>
                  <a:srgbClr val="111111"/>
                </a:solidFill>
                <a:latin typeface="HY헤드라인M"/>
              </a:rPr>
              <a:t>를 기반으로 분석해 코</a:t>
            </a:r>
            <a:r>
              <a:rPr sz="1800" b="0" i="0">
                <a:solidFill>
                  <a:srgbClr val="111111"/>
                </a:solidFill>
                <a:latin typeface="HY헤드라인M"/>
              </a:rPr>
              <a:t>, </a:t>
            </a:r>
            <a:r>
              <a:rPr sz="1800" b="0" i="0">
                <a:solidFill>
                  <a:srgbClr val="111111"/>
                </a:solidFill>
                <a:latin typeface="HY헤드라인M"/>
              </a:rPr>
              <a:t>하악 등의 골절을 진단할 수 있는 </a:t>
            </a:r>
            <a:r>
              <a:rPr sz="1800" b="0" i="0">
                <a:solidFill>
                  <a:srgbClr val="111111"/>
                </a:solidFill>
                <a:latin typeface="HY헤드라인M"/>
              </a:rPr>
              <a:t>AI </a:t>
            </a:r>
            <a:r>
              <a:rPr sz="1800" b="0" i="0">
                <a:solidFill>
                  <a:srgbClr val="111111"/>
                </a:solidFill>
                <a:latin typeface="HY헤드라인M"/>
              </a:rPr>
              <a:t>솔루션</a:t>
            </a:r>
            <a:r>
              <a:rPr sz="1800" b="0" i="0">
                <a:solidFill>
                  <a:srgbClr val="111111"/>
                </a:solidFill>
                <a:latin typeface="HY헤드라인M"/>
              </a:rPr>
              <a:t>.</a:t>
            </a:r>
            <a:endParaRPr lang="ko-KR" altLang="en-US" b="0" i="0" u="none" strike="noStrike" dirty="0">
              <a:solidFill>
                <a:srgbClr val="111111"/>
              </a:solidFill>
              <a:effectLst/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sz="1800" b="0" i="0">
                <a:solidFill>
                  <a:srgbClr val="111111"/>
                </a:solidFill>
                <a:latin typeface="HY헤드라인M"/>
              </a:rPr>
              <a:t>AI</a:t>
            </a:r>
            <a:r>
              <a:rPr sz="1800" b="0" i="0">
                <a:solidFill>
                  <a:srgbClr val="111111"/>
                </a:solidFill>
                <a:latin typeface="HY헤드라인M"/>
              </a:rPr>
              <a:t>솔루션을 적용할 경우 안면골 골절 후 </a:t>
            </a:r>
            <a:r>
              <a:rPr sz="1800" b="0" i="0">
                <a:solidFill>
                  <a:srgbClr val="111111"/>
                </a:solidFill>
                <a:latin typeface="HY헤드라인M"/>
              </a:rPr>
              <a:t>2</a:t>
            </a:r>
            <a:r>
              <a:rPr sz="1800" b="0" i="0">
                <a:solidFill>
                  <a:srgbClr val="111111"/>
                </a:solidFill>
                <a:latin typeface="HY헤드라인M"/>
              </a:rPr>
              <a:t>주가 지나면 뼈가 서로 어긋난 상태에서 붙기 시작하는데 그 전에 빠르게 진단</a:t>
            </a:r>
            <a:r>
              <a:rPr sz="1800" b="0" i="0">
                <a:solidFill>
                  <a:srgbClr val="111111"/>
                </a:solidFill>
                <a:latin typeface="HY헤드라인M"/>
              </a:rPr>
              <a:t>, </a:t>
            </a:r>
            <a:r>
              <a:rPr sz="1800" b="0" i="0">
                <a:solidFill>
                  <a:srgbClr val="111111"/>
                </a:solidFill>
                <a:latin typeface="HY헤드라인M"/>
              </a:rPr>
              <a:t>뼈가 어긋나 붙기 전에 치료가 가능</a:t>
            </a:r>
            <a:r>
              <a:rPr sz="1800" b="0" i="0">
                <a:solidFill>
                  <a:srgbClr val="111111"/>
                </a:solidFill>
                <a:latin typeface="HY헤드라인M"/>
              </a:rPr>
              <a:t>. </a:t>
            </a:r>
            <a:endParaRPr lang="ko-KR" altLang="en-US" b="0" i="0" u="none" strike="noStrike" dirty="0">
              <a:solidFill>
                <a:srgbClr val="111111"/>
              </a:solidFill>
              <a:effectLst/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sz="1800" b="0" i="0">
                <a:solidFill>
                  <a:srgbClr val="111111"/>
                </a:solidFill>
                <a:latin typeface="HY헤드라인M"/>
              </a:rPr>
              <a:t>지오비전이 개발한 안면골 골절 진단 </a:t>
            </a:r>
            <a:r>
              <a:rPr sz="1800" b="0" i="0">
                <a:solidFill>
                  <a:srgbClr val="111111"/>
                </a:solidFill>
                <a:latin typeface="HY헤드라인M"/>
              </a:rPr>
              <a:t>AI</a:t>
            </a:r>
            <a:r>
              <a:rPr sz="1800" b="0" i="0">
                <a:solidFill>
                  <a:srgbClr val="111111"/>
                </a:solidFill>
                <a:latin typeface="HY헤드라인M"/>
              </a:rPr>
              <a:t>솔루션은 조기진단에 큰 도움을 줌</a:t>
            </a:r>
            <a:r>
              <a:rPr sz="1800" b="0" i="0">
                <a:solidFill>
                  <a:srgbClr val="111111"/>
                </a:solidFill>
                <a:latin typeface="HY헤드라인M"/>
              </a:rPr>
              <a:t>.</a:t>
            </a:r>
          </a:p>
          <a:p>
            <a:r>
              <a:rPr sz="1800" b="0" i="0">
                <a:solidFill>
                  <a:srgbClr val="111111"/>
                </a:solidFill>
                <a:latin typeface="HY헤드라인M"/>
              </a:rPr>
              <a:t>인공지능 기반의 안면골 골절 진단시스템이 보급되면 환자가 빠르게 치료</a:t>
            </a:r>
            <a:r>
              <a:rPr sz="1800" b="0" i="0">
                <a:solidFill>
                  <a:srgbClr val="111111"/>
                </a:solidFill>
                <a:latin typeface="HY헤드라인M"/>
              </a:rPr>
              <a:t>,</a:t>
            </a:r>
            <a:r>
              <a:rPr sz="1800" b="0" i="0">
                <a:solidFill>
                  <a:srgbClr val="111111"/>
                </a:solidFill>
                <a:latin typeface="HY헤드라인M"/>
              </a:rPr>
              <a:t> 후유증 발생 빈도 줄어듦</a:t>
            </a:r>
            <a:r>
              <a:rPr sz="1800" b="0" i="0">
                <a:solidFill>
                  <a:srgbClr val="111111"/>
                </a:solidFill>
                <a:latin typeface="HY헤드라인M"/>
              </a:rPr>
              <a:t>.</a:t>
            </a:r>
            <a:endParaRPr lang="en-US" altLang="ko-KR" b="0" i="0" u="none" strike="noStrike" dirty="0">
              <a:solidFill>
                <a:srgbClr val="111111"/>
              </a:solidFill>
              <a:effectLst/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sz="1800" b="0" i="0">
                <a:solidFill>
                  <a:srgbClr val="111111"/>
                </a:solidFill>
                <a:latin typeface="HY헤드라인M"/>
              </a:rPr>
              <a:t>FaBoA</a:t>
            </a:r>
            <a:r>
              <a:rPr sz="1800" b="0" i="0">
                <a:solidFill>
                  <a:srgbClr val="111111"/>
                </a:solidFill>
                <a:latin typeface="HY헤드라인M"/>
              </a:rPr>
              <a:t>를 이용하면 안면골 골절 환자의 진단</a:t>
            </a:r>
            <a:r>
              <a:rPr sz="1800" b="0" i="0">
                <a:solidFill>
                  <a:srgbClr val="111111"/>
                </a:solidFill>
                <a:latin typeface="HY헤드라인M"/>
              </a:rPr>
              <a:t>, </a:t>
            </a:r>
            <a:r>
              <a:rPr sz="1800" b="0" i="0">
                <a:solidFill>
                  <a:srgbClr val="111111"/>
                </a:solidFill>
                <a:latin typeface="HY헤드라인M"/>
              </a:rPr>
              <a:t>치료 계획 수립</a:t>
            </a:r>
            <a:r>
              <a:rPr sz="1800" b="0" i="0">
                <a:solidFill>
                  <a:srgbClr val="111111"/>
                </a:solidFill>
                <a:latin typeface="HY헤드라인M"/>
              </a:rPr>
              <a:t>, </a:t>
            </a:r>
            <a:r>
              <a:rPr sz="1800" b="0" i="0">
                <a:solidFill>
                  <a:srgbClr val="111111"/>
                </a:solidFill>
                <a:latin typeface="HY헤드라인M"/>
              </a:rPr>
              <a:t>수술 후 평가 과정에서 필요한 안면골 골절 모니터링이 가능해져 치료와 예후 관리의 효율성이 향상될 것으로 기대</a:t>
            </a:r>
            <a:endParaRPr lang="en-US" altLang="ko-KR" dirty="0">
              <a:solidFill>
                <a:srgbClr val="11111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9958083-436C-028A-D71A-F3C07F66C6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3534" y="2180612"/>
            <a:ext cx="3525389" cy="2496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50511"/>
      </p:ext>
    </p:extLst>
  </p:cSld>
  <p:clrMapOvr>
    <a:masterClrMapping/>
  </p:clrMapOvr>
</p:sld>
</file>

<file path=ppt/theme/theme1.xml><?xml version="1.0" encoding="utf-8"?>
<a:theme xmlns:a="http://schemas.openxmlformats.org/drawingml/2006/main" name="갤러리">
  <a:themeElements>
    <a:clrScheme name="갤러리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갤러리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갤러리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496</TotalTime>
  <Words>222</Words>
  <Application>Microsoft Office PowerPoint</Application>
  <PresentationFormat>와이드스크린</PresentationFormat>
  <Paragraphs>16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1" baseType="lpstr">
      <vt:lpstr>Batang</vt:lpstr>
      <vt:lpstr>HY헤드라인M</vt:lpstr>
      <vt:lpstr>Arial</vt:lpstr>
      <vt:lpstr>Cambria Math</vt:lpstr>
      <vt:lpstr>Gill Sans MT</vt:lpstr>
      <vt:lpstr>갤러리</vt:lpstr>
      <vt:lpstr>지오비전 ‘파보아’:  안면골절 진단 인공지능</vt:lpstr>
      <vt:lpstr>PowerPoint 프레젠테이션</vt:lpstr>
      <vt:lpstr>지오비전</vt:lpstr>
      <vt:lpstr>기존 문제점</vt:lpstr>
      <vt:lpstr>지오비전이 개발한 AI 기반의 안면골 골절 탐지 솔루션 'FaBoA＇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인공지능 심층신경망을 이용한 코뼈 골절의 진단</dc:title>
  <dc:creator>haeungil2301@gmail.com</dc:creator>
  <cp:lastModifiedBy>김지헌</cp:lastModifiedBy>
  <cp:revision>12</cp:revision>
  <dcterms:created xsi:type="dcterms:W3CDTF">2023-07-11T20:22:48Z</dcterms:created>
  <dcterms:modified xsi:type="dcterms:W3CDTF">2026-01-05T01:39:08Z</dcterms:modified>
</cp:coreProperties>
</file>